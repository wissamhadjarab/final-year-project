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3"/>
  </p:notesMasterIdLst>
  <p:handoutMasterIdLst>
    <p:handoutMasterId r:id="rId34"/>
  </p:handoutMasterIdLst>
  <p:sldIdLst>
    <p:sldId id="256" r:id="rId5"/>
    <p:sldId id="258" r:id="rId6"/>
    <p:sldId id="423" r:id="rId7"/>
    <p:sldId id="433" r:id="rId8"/>
    <p:sldId id="424" r:id="rId9"/>
    <p:sldId id="298" r:id="rId10"/>
    <p:sldId id="300" r:id="rId11"/>
    <p:sldId id="442" r:id="rId12"/>
    <p:sldId id="425" r:id="rId13"/>
    <p:sldId id="443" r:id="rId14"/>
    <p:sldId id="444" r:id="rId15"/>
    <p:sldId id="432" r:id="rId16"/>
    <p:sldId id="435" r:id="rId17"/>
    <p:sldId id="434" r:id="rId18"/>
    <p:sldId id="436" r:id="rId19"/>
    <p:sldId id="387" r:id="rId20"/>
    <p:sldId id="309" r:id="rId21"/>
    <p:sldId id="406" r:id="rId22"/>
    <p:sldId id="407" r:id="rId23"/>
    <p:sldId id="438" r:id="rId24"/>
    <p:sldId id="437" r:id="rId25"/>
    <p:sldId id="439" r:id="rId26"/>
    <p:sldId id="310" r:id="rId27"/>
    <p:sldId id="440" r:id="rId28"/>
    <p:sldId id="441" r:id="rId29"/>
    <p:sldId id="344" r:id="rId30"/>
    <p:sldId id="288" r:id="rId31"/>
    <p:sldId id="32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9B7"/>
    <a:srgbClr val="FAFBFC"/>
    <a:srgbClr val="00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191" autoAdjust="0"/>
    <p:restoredTop sz="96266" autoAdjust="0"/>
  </p:normalViewPr>
  <p:slideViewPr>
    <p:cSldViewPr snapToGrid="0">
      <p:cViewPr varScale="1">
        <p:scale>
          <a:sx n="60" d="100"/>
          <a:sy n="60" d="100"/>
        </p:scale>
        <p:origin x="96" y="288"/>
      </p:cViewPr>
      <p:guideLst/>
    </p:cSldViewPr>
  </p:slideViewPr>
  <p:outlineViewPr>
    <p:cViewPr>
      <p:scale>
        <a:sx n="33" d="100"/>
        <a:sy n="33" d="100"/>
      </p:scale>
      <p:origin x="0" y="-4460"/>
    </p:cViewPr>
  </p:outlineViewPr>
  <p:notesTextViewPr>
    <p:cViewPr>
      <p:scale>
        <a:sx n="1" d="1"/>
        <a:sy n="1" d="1"/>
      </p:scale>
      <p:origin x="0" y="0"/>
    </p:cViewPr>
  </p:notesTextViewPr>
  <p:notesViewPr>
    <p:cSldViewPr snapToGrid="0">
      <p:cViewPr varScale="1">
        <p:scale>
          <a:sx n="45" d="100"/>
          <a:sy n="45" d="100"/>
        </p:scale>
        <p:origin x="2760" y="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31D101-FE02-E795-4EE3-6B3F37B9EC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356C3D61-E3D4-89C3-BB4F-A01897E55FE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0E48567-60A8-4802-9049-E6A4CA40A3CD}" type="datetime1">
              <a:rPr lang="en-GB" smtClean="0"/>
              <a:t>24/11/2025</a:t>
            </a:fld>
            <a:endParaRPr lang="en-IE"/>
          </a:p>
        </p:txBody>
      </p:sp>
      <p:sp>
        <p:nvSpPr>
          <p:cNvPr id="4" name="Footer Placeholder 3">
            <a:extLst>
              <a:ext uri="{FF2B5EF4-FFF2-40B4-BE49-F238E27FC236}">
                <a16:creationId xmlns:a16="http://schemas.microsoft.com/office/drawing/2014/main" id="{2B8CD473-5FD1-F8B8-7E9F-EB7E9BD197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832D633F-F6F6-60E8-1E0F-503DA71BC5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3F9A04-B69E-4EE9-9A07-C5FD8C1409B6}" type="slidenum">
              <a:rPr lang="en-IE" smtClean="0"/>
              <a:t>‹#›</a:t>
            </a:fld>
            <a:endParaRPr lang="en-IE"/>
          </a:p>
        </p:txBody>
      </p:sp>
    </p:spTree>
    <p:extLst>
      <p:ext uri="{BB962C8B-B14F-4D97-AF65-F5344CB8AC3E}">
        <p14:creationId xmlns:p14="http://schemas.microsoft.com/office/powerpoint/2010/main" val="84921327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4B33FD-70AA-4167-B153-F1DCB5872760}" type="datetime1">
              <a:rPr lang="en-GB" smtClean="0"/>
              <a:t>24/11/2025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71F3FA-EEE6-4008-963E-F78DCEBB9B6C}" type="slidenum">
              <a:rPr lang="en-GB" smtClean="0"/>
              <a:t>‹#›</a:t>
            </a:fld>
            <a:endParaRPr lang="en-GB"/>
          </a:p>
        </p:txBody>
      </p:sp>
    </p:spTree>
    <p:extLst>
      <p:ext uri="{BB962C8B-B14F-4D97-AF65-F5344CB8AC3E}">
        <p14:creationId xmlns:p14="http://schemas.microsoft.com/office/powerpoint/2010/main" val="2969330026"/>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17E-4B72-DDFC-3395-0AFCCE2FD98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DC926A8-BE5E-DB34-24F4-F8937FEFA6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A5AE87C-D5AB-C13D-F314-AE2B2F13007F}"/>
              </a:ext>
            </a:extLst>
          </p:cNvPr>
          <p:cNvSpPr>
            <a:spLocks noGrp="1"/>
          </p:cNvSpPr>
          <p:nvPr>
            <p:ph type="dt" sz="half" idx="10"/>
          </p:nvPr>
        </p:nvSpPr>
        <p:spPr/>
        <p:txBody>
          <a:bodyPr/>
          <a:lstStyle/>
          <a:p>
            <a:fld id="{56B4B064-BD7C-43F8-A059-37045D18B547}" type="datetime1">
              <a:rPr lang="en-GB" smtClean="0"/>
              <a:t>24/11/2025</a:t>
            </a:fld>
            <a:endParaRPr lang="en-GB"/>
          </a:p>
        </p:txBody>
      </p:sp>
      <p:sp>
        <p:nvSpPr>
          <p:cNvPr id="5" name="Footer Placeholder 4">
            <a:extLst>
              <a:ext uri="{FF2B5EF4-FFF2-40B4-BE49-F238E27FC236}">
                <a16:creationId xmlns:a16="http://schemas.microsoft.com/office/drawing/2014/main" id="{4B2E1232-B827-66CE-45E4-0AC0EE014F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D97826-01BA-CB0F-0792-6716C480512F}"/>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452275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007DB-BAC0-B5F7-CD3D-D722F4B0FC67}"/>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A45A55-EFF2-43B6-B7BF-52DAEFC6D4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solidFill>
              </a:defRPr>
            </a:lvl1pPr>
          </a:lstStyle>
          <a:p>
            <a:fld id="{455A260C-3404-41FA-B566-D7C80AB17B9C}" type="datetime1">
              <a:rPr lang="en-GB" smtClean="0"/>
              <a:t>24/11/2025</a:t>
            </a:fld>
            <a:endParaRPr lang="en-GB" dirty="0"/>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solidFill>
              </a:defRPr>
            </a:lvl1pPr>
          </a:lstStyle>
          <a:p>
            <a:fld id="{1AE971F0-0CD2-4C47-8087-EBCE9716EA84}" type="slidenum">
              <a:rPr lang="en-GB" smtClean="0"/>
              <a:pPr/>
              <a:t>‹#›</a:t>
            </a:fld>
            <a:endParaRPr lang="en-GB" dirty="0"/>
          </a:p>
        </p:txBody>
      </p:sp>
    </p:spTree>
    <p:extLst>
      <p:ext uri="{BB962C8B-B14F-4D97-AF65-F5344CB8AC3E}">
        <p14:creationId xmlns:p14="http://schemas.microsoft.com/office/powerpoint/2010/main" val="3979668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otes">
    <p:bg>
      <p:bgPr>
        <a:solidFill>
          <a:srgbClr val="004C6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lumMod val="65000"/>
                  </a:schemeClr>
                </a:solidFill>
              </a:defRPr>
            </a:lvl1pPr>
          </a:lstStyle>
          <a:p>
            <a:fld id="{883B317A-267E-494A-97EF-2B724B5F383C}" type="datetime1">
              <a:rPr lang="en-GB" smtClean="0"/>
              <a:t>24/11/2025</a:t>
            </a:fld>
            <a:endParaRPr lang="en-GB"/>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dirty="0"/>
          </a:p>
        </p:txBody>
      </p:sp>
      <p:pic>
        <p:nvPicPr>
          <p:cNvPr id="8" name="Graphic 7" descr="The following is a quote: ">
            <a:extLst>
              <a:ext uri="{FF2B5EF4-FFF2-40B4-BE49-F238E27FC236}">
                <a16:creationId xmlns:a16="http://schemas.microsoft.com/office/drawing/2014/main" id="{BBC1D34B-9075-8D03-3A5C-E7D33712D62A}"/>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4726" y="1825625"/>
            <a:ext cx="2084363" cy="2084363"/>
          </a:xfrm>
          <a:prstGeom prst="rect">
            <a:avLst/>
          </a:prstGeom>
        </p:spPr>
      </p:pic>
      <p:sp>
        <p:nvSpPr>
          <p:cNvPr id="10" name="Text Placeholder 9">
            <a:extLst>
              <a:ext uri="{FF2B5EF4-FFF2-40B4-BE49-F238E27FC236}">
                <a16:creationId xmlns:a16="http://schemas.microsoft.com/office/drawing/2014/main" id="{71D05262-A873-B471-8864-15D00174DECC}"/>
              </a:ext>
            </a:extLst>
          </p:cNvPr>
          <p:cNvSpPr>
            <a:spLocks noGrp="1"/>
          </p:cNvSpPr>
          <p:nvPr>
            <p:ph type="body" sz="quarter" idx="13"/>
          </p:nvPr>
        </p:nvSpPr>
        <p:spPr>
          <a:xfrm>
            <a:off x="2743200" y="2147888"/>
            <a:ext cx="8610600" cy="37957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dirty="0"/>
          </a:p>
        </p:txBody>
      </p:sp>
    </p:spTree>
    <p:extLst>
      <p:ext uri="{BB962C8B-B14F-4D97-AF65-F5344CB8AC3E}">
        <p14:creationId xmlns:p14="http://schemas.microsoft.com/office/powerpoint/2010/main" val="245861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831850" y="1709738"/>
            <a:ext cx="10515600" cy="2852737"/>
          </a:xfrm>
        </p:spPr>
        <p:txBody>
          <a:bodyPr anchor="b"/>
          <a:lstStyle>
            <a:lvl1pPr>
              <a:defRPr sz="6000">
                <a:solidFill>
                  <a:schemeClr val="accent3"/>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3DD4156-1D08-F755-3CB7-F04B4CB231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lvl1pPr>
              <a:defRPr>
                <a:solidFill>
                  <a:schemeClr val="bg1">
                    <a:lumMod val="65000"/>
                  </a:schemeClr>
                </a:solidFill>
              </a:defRPr>
            </a:lvl1pPr>
          </a:lstStyle>
          <a:p>
            <a:fld id="{879C72A5-D3A4-4894-AE60-98E127963887}" type="datetime1">
              <a:rPr lang="en-GB" smtClean="0"/>
              <a:t>24/11/2025</a:t>
            </a:fld>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532789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831850" y="4816548"/>
            <a:ext cx="10515600" cy="1223851"/>
          </a:xfrm>
        </p:spPr>
        <p:txBody>
          <a:bodyPr anchor="b">
            <a:normAutofit/>
          </a:bodyPr>
          <a:lstStyle>
            <a:lvl1pPr algn="ctr">
              <a:defRPr sz="5400">
                <a:solidFill>
                  <a:schemeClr val="accent3"/>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p>
            <a:fld id="{861C06C1-EC6F-4682-81EA-164AE24F4ECD}" type="datetime1">
              <a:rPr lang="en-GB" smtClean="0"/>
              <a:t>24/11/2025</a:t>
            </a:fld>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8" name="Content Placeholder 7">
            <a:extLst>
              <a:ext uri="{FF2B5EF4-FFF2-40B4-BE49-F238E27FC236}">
                <a16:creationId xmlns:a16="http://schemas.microsoft.com/office/drawing/2014/main" id="{459A2BA5-1AB5-DB59-3C54-16713B4E4270}"/>
              </a:ext>
            </a:extLst>
          </p:cNvPr>
          <p:cNvSpPr>
            <a:spLocks noGrp="1"/>
          </p:cNvSpPr>
          <p:nvPr>
            <p:ph sz="quarter" idx="13"/>
          </p:nvPr>
        </p:nvSpPr>
        <p:spPr>
          <a:xfrm>
            <a:off x="2754313" y="712788"/>
            <a:ext cx="6794500" cy="41037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Tree>
    <p:extLst>
      <p:ext uri="{BB962C8B-B14F-4D97-AF65-F5344CB8AC3E}">
        <p14:creationId xmlns:p14="http://schemas.microsoft.com/office/powerpoint/2010/main" val="4068118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0BE543-0448-3A4C-5F33-EAD956CEEC4F}"/>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109FF7AA-B49C-D561-FA47-CB24D2FBF6F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5761E7E-A789-0692-DCFA-73EB3A13A57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C5CDC2F-840C-693F-493D-EB4B70B8294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2413D37-E198-0C87-31DE-C825CE017A07}"/>
              </a:ext>
            </a:extLst>
          </p:cNvPr>
          <p:cNvSpPr>
            <a:spLocks noGrp="1"/>
          </p:cNvSpPr>
          <p:nvPr>
            <p:ph type="dt" sz="half" idx="10"/>
          </p:nvPr>
        </p:nvSpPr>
        <p:spPr/>
        <p:txBody>
          <a:bodyPr/>
          <a:lstStyle/>
          <a:p>
            <a:fld id="{E3544799-E25E-4B6F-B32F-52EEF6BA76C4}" type="datetime1">
              <a:rPr lang="en-GB" smtClean="0"/>
              <a:t>24/11/2025</a:t>
            </a:fld>
            <a:endParaRPr lang="en-GB"/>
          </a:p>
        </p:txBody>
      </p:sp>
      <p:sp>
        <p:nvSpPr>
          <p:cNvPr id="6" name="Footer Placeholder 5">
            <a:extLst>
              <a:ext uri="{FF2B5EF4-FFF2-40B4-BE49-F238E27FC236}">
                <a16:creationId xmlns:a16="http://schemas.microsoft.com/office/drawing/2014/main" id="{EF355D9D-23CD-C2B7-2CB9-63A7B666AA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C84A3F-2DEF-A695-73CD-C8A79EDD75B4}"/>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9671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57A7C-8356-9C4D-0FD4-A2809BBA22A6}"/>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8C23E5D6-F819-DF80-8C6A-FE0FD23685E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0634751-4015-7A9E-A494-E4825F6D8A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DD0E5A5-4B18-9989-88ED-D6B31265D2D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7685D65-C667-2456-E06F-F0E68B2E5C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944F890-33E6-BD4B-978A-E4B20968B85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E26AA7C-81D8-7C95-3E01-76956024FF9F}"/>
              </a:ext>
            </a:extLst>
          </p:cNvPr>
          <p:cNvSpPr>
            <a:spLocks noGrp="1"/>
          </p:cNvSpPr>
          <p:nvPr>
            <p:ph type="dt" sz="half" idx="10"/>
          </p:nvPr>
        </p:nvSpPr>
        <p:spPr/>
        <p:txBody>
          <a:bodyPr/>
          <a:lstStyle/>
          <a:p>
            <a:fld id="{F1A6D91A-6D7B-4E03-8141-80C56F96A2C7}" type="datetime1">
              <a:rPr lang="en-GB" smtClean="0"/>
              <a:t>24/11/2025</a:t>
            </a:fld>
            <a:endParaRPr lang="en-GB"/>
          </a:p>
        </p:txBody>
      </p:sp>
      <p:sp>
        <p:nvSpPr>
          <p:cNvPr id="8" name="Footer Placeholder 7">
            <a:extLst>
              <a:ext uri="{FF2B5EF4-FFF2-40B4-BE49-F238E27FC236}">
                <a16:creationId xmlns:a16="http://schemas.microsoft.com/office/drawing/2014/main" id="{137830B1-02EA-A7DB-8FCF-32C06C3E0B2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580A6F-5EBE-2DCC-8CCB-9F05EA6645C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751188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C00E1A-F73B-4343-8C36-A161A0EDF3C9}"/>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7DCD2DC0-0D4F-4B0E-7C43-38073564822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1278B6D-6F61-EF5E-B5CC-F72AA2353D1E}"/>
              </a:ext>
            </a:extLst>
          </p:cNvPr>
          <p:cNvSpPr>
            <a:spLocks noGrp="1"/>
          </p:cNvSpPr>
          <p:nvPr>
            <p:ph type="dt" sz="half" idx="10"/>
          </p:nvPr>
        </p:nvSpPr>
        <p:spPr/>
        <p:txBody>
          <a:bodyPr/>
          <a:lstStyle/>
          <a:p>
            <a:fld id="{CE8ADC37-9F23-443F-B410-E570694E9B5E}" type="datetime1">
              <a:rPr lang="en-GB" smtClean="0"/>
              <a:t>24/11/2025</a:t>
            </a:fld>
            <a:endParaRPr lang="en-GB"/>
          </a:p>
        </p:txBody>
      </p:sp>
      <p:sp>
        <p:nvSpPr>
          <p:cNvPr id="4" name="Footer Placeholder 3">
            <a:extLst>
              <a:ext uri="{FF2B5EF4-FFF2-40B4-BE49-F238E27FC236}">
                <a16:creationId xmlns:a16="http://schemas.microsoft.com/office/drawing/2014/main" id="{527A9D98-33BD-A8E4-155E-07D8B622BE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44C4ED-AE87-B167-6C8F-8D62A01C4EB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684876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lvl1pPr>
              <a:defRPr>
                <a:solidFill>
                  <a:schemeClr val="tx2"/>
                </a:solidFill>
              </a:defRPr>
            </a:lvl1pPr>
          </a:lstStyle>
          <a:p>
            <a:fld id="{68F434EC-01F8-4436-AD73-A8C630D22A4C}" type="datetime1">
              <a:rPr lang="en-GB" smtClean="0"/>
              <a:pPr/>
              <a:t>24/11/2025</a:t>
            </a:fld>
            <a:endParaRPr lang="en-GB" dirty="0"/>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lvl1pPr>
              <a:defRPr>
                <a:solidFill>
                  <a:schemeClr val="tx2"/>
                </a:solidFill>
              </a:defRPr>
            </a:lvl1pPr>
          </a:lstStyle>
          <a:p>
            <a:endParaRPr lang="en-GB" dirty="0"/>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lvl1pPr>
              <a:defRPr>
                <a:solidFill>
                  <a:schemeClr val="tx2"/>
                </a:solidFill>
              </a:defRPr>
            </a:lvl1pPr>
          </a:lstStyle>
          <a:p>
            <a:fld id="{1AE971F0-0CD2-4C47-8087-EBCE9716EA84}" type="slidenum">
              <a:rPr lang="en-GB" smtClean="0"/>
              <a:pPr/>
              <a:t>‹#›</a:t>
            </a:fld>
            <a:endParaRPr lang="en-GB" dirty="0"/>
          </a:p>
        </p:txBody>
      </p:sp>
    </p:spTree>
    <p:extLst>
      <p:ext uri="{BB962C8B-B14F-4D97-AF65-F5344CB8AC3E}">
        <p14:creationId xmlns:p14="http://schemas.microsoft.com/office/powerpoint/2010/main" val="1250828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E7D552-8819-237B-3DDB-43E0C64CD7BE}"/>
              </a:ext>
            </a:extLst>
          </p:cNvPr>
          <p:cNvSpPr/>
          <p:nvPr userDrawn="1"/>
        </p:nvSpPr>
        <p:spPr>
          <a:xfrm>
            <a:off x="0" y="0"/>
            <a:ext cx="3941379"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591CD720-FDBF-4ACB-BFF0-6150B3C80C4E}" type="datetime1">
              <a:rPr lang="en-GB" smtClean="0"/>
              <a:t>24/11/2025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lvl1pPr>
              <a:defRPr>
                <a:solidFill>
                  <a:schemeClr val="tx2"/>
                </a:solidFill>
              </a:defRPr>
            </a:lvl1p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lvl1pPr>
              <a:defRPr>
                <a:solidFill>
                  <a:schemeClr val="tx2"/>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1932206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E7D552-8819-237B-3DDB-43E0C64CD7BE}"/>
              </a:ext>
            </a:extLst>
          </p:cNvPr>
          <p:cNvSpPr/>
          <p:nvPr userDrawn="1"/>
        </p:nvSpPr>
        <p:spPr>
          <a:xfrm>
            <a:off x="0" y="0"/>
            <a:ext cx="3941379"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941379" y="0"/>
            <a:ext cx="430924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8FFD44C-6AAD-41B3-9A0F-2CE957009C56}" type="datetime1">
              <a:rPr lang="en-GB" smtClean="0"/>
              <a:t>24/11/2025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lvl1pPr>
              <a:defRPr>
                <a:solidFill>
                  <a:schemeClr val="tx2"/>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3173211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E7D552-8819-237B-3DDB-43E0C64CD7BE}"/>
              </a:ext>
            </a:extLst>
          </p:cNvPr>
          <p:cNvSpPr/>
          <p:nvPr userDrawn="1"/>
        </p:nvSpPr>
        <p:spPr>
          <a:xfrm>
            <a:off x="8357191" y="0"/>
            <a:ext cx="3826925"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lvl1pPr>
              <a:defRPr>
                <a:solidFill>
                  <a:schemeClr val="tx2"/>
                </a:solidFill>
              </a:defRPr>
            </a:lvl1pPr>
          </a:lstStyle>
          <a:p>
            <a:fld id="{0397A061-2027-4478-8B26-12D8B73CD797}" type="datetime1">
              <a:rPr lang="en-GB" smtClean="0"/>
              <a:pPr/>
              <a:t>24/11/2025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lvl1pPr>
              <a:defRPr>
                <a:solidFill>
                  <a:schemeClr val="tx2"/>
                </a:solidFill>
              </a:defRPr>
            </a:lvl1p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598361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4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E7D552-8819-237B-3DDB-43E0C64CD7BE}"/>
              </a:ext>
            </a:extLst>
          </p:cNvPr>
          <p:cNvSpPr/>
          <p:nvPr userDrawn="1"/>
        </p:nvSpPr>
        <p:spPr>
          <a:xfrm>
            <a:off x="0" y="0"/>
            <a:ext cx="3941379"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C539BAFE-1C58-4281-B660-E6D6B17C58DE}" type="datetime1">
              <a:rPr lang="en-GB" smtClean="0"/>
              <a:t>24/11/2025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lvl1pPr>
              <a:defRPr>
                <a:solidFill>
                  <a:schemeClr val="accent3"/>
                </a:solidFill>
              </a:defRPr>
            </a:lvl1pPr>
          </a:lstStyle>
          <a:p>
            <a:endParaRPr lang="en-GB" dirty="0"/>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lvl1pPr>
              <a:defRPr>
                <a:solidFill>
                  <a:schemeClr val="accent3"/>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13162557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5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E7D552-8819-237B-3DDB-43E0C64CD7BE}"/>
              </a:ext>
            </a:extLst>
          </p:cNvPr>
          <p:cNvSpPr/>
          <p:nvPr userDrawn="1"/>
        </p:nvSpPr>
        <p:spPr>
          <a:xfrm>
            <a:off x="0" y="0"/>
            <a:ext cx="3941379"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941379" y="0"/>
            <a:ext cx="4309244"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64180363-B8F7-4DD9-9C65-B088BE60F2F1}" type="datetime1">
              <a:rPr lang="en-GB" smtClean="0"/>
              <a:t>24/11/2025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lvl1pPr>
              <a:defRPr>
                <a:solidFill>
                  <a:schemeClr val="accent3"/>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8369179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6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E7D552-8819-237B-3DDB-43E0C64CD7BE}"/>
              </a:ext>
            </a:extLst>
          </p:cNvPr>
          <p:cNvSpPr/>
          <p:nvPr userDrawn="1"/>
        </p:nvSpPr>
        <p:spPr>
          <a:xfrm>
            <a:off x="8357191" y="0"/>
            <a:ext cx="3826925"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lvl1pPr>
              <a:defRPr>
                <a:solidFill>
                  <a:schemeClr val="accent3"/>
                </a:solidFill>
              </a:defRPr>
            </a:lvl1pPr>
          </a:lstStyle>
          <a:p>
            <a:fld id="{E04DD338-71D2-4D28-B5D0-9A3EE0FAFF58}" type="datetime1">
              <a:rPr lang="en-GB" smtClean="0"/>
              <a:pPr/>
              <a:t>24/11/2025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lvl1pPr>
              <a:defRPr>
                <a:solidFill>
                  <a:schemeClr val="accent3"/>
                </a:solidFill>
              </a:defRPr>
            </a:lvl1pPr>
          </a:lstStyle>
          <a:p>
            <a:endParaRPr lang="en-GB" dirty="0"/>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6647926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7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E7D552-8819-237B-3DDB-43E0C64CD7BE}"/>
              </a:ext>
            </a:extLst>
          </p:cNvPr>
          <p:cNvSpPr/>
          <p:nvPr userDrawn="1"/>
        </p:nvSpPr>
        <p:spPr>
          <a:xfrm>
            <a:off x="0" y="0"/>
            <a:ext cx="394137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EF2B95A8-393F-442D-989E-BEA34941A7FD}" type="datetime1">
              <a:rPr lang="en-GB" smtClean="0"/>
              <a:t>24/11/2025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lvl1pPr>
              <a:defRPr>
                <a:solidFill>
                  <a:schemeClr val="tx2"/>
                </a:solidFill>
              </a:defRPr>
            </a:lvl1pPr>
          </a:lstStyle>
          <a:p>
            <a:endParaRPr lang="en-GB" dirty="0"/>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lvl1pPr>
              <a:defRPr>
                <a:solidFill>
                  <a:schemeClr val="tx2"/>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14954504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8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E7D552-8819-237B-3DDB-43E0C64CD7BE}"/>
              </a:ext>
            </a:extLst>
          </p:cNvPr>
          <p:cNvSpPr/>
          <p:nvPr userDrawn="1"/>
        </p:nvSpPr>
        <p:spPr>
          <a:xfrm>
            <a:off x="0" y="0"/>
            <a:ext cx="394137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941379" y="0"/>
            <a:ext cx="430924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A1637525-B4BF-493E-8F0F-DEC06BAC064B}" type="datetime1">
              <a:rPr lang="en-GB" smtClean="0"/>
              <a:t>24/11/2025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lvl1pPr>
              <a:defRPr>
                <a:solidFill>
                  <a:schemeClr val="tx2"/>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13764634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9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E7D552-8819-237B-3DDB-43E0C64CD7BE}"/>
              </a:ext>
            </a:extLst>
          </p:cNvPr>
          <p:cNvSpPr/>
          <p:nvPr userDrawn="1"/>
        </p:nvSpPr>
        <p:spPr>
          <a:xfrm>
            <a:off x="8357191" y="0"/>
            <a:ext cx="382692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lvl1pPr>
              <a:defRPr>
                <a:solidFill>
                  <a:schemeClr val="tx2"/>
                </a:solidFill>
              </a:defRPr>
            </a:lvl1pPr>
          </a:lstStyle>
          <a:p>
            <a:fld id="{D8CA0D2C-5934-4750-9543-7BE5FEA38F26}" type="datetime1">
              <a:rPr lang="en-GB" smtClean="0"/>
              <a:pPr/>
              <a:t>24/11/2025</a:t>
            </a:fld>
            <a:endParaRPr lang="en-GB" dirty="0"/>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lvl1pPr>
              <a:defRPr>
                <a:solidFill>
                  <a:schemeClr val="tx2"/>
                </a:solidFill>
              </a:defRPr>
            </a:lvl1pPr>
          </a:lstStyle>
          <a:p>
            <a:endParaRPr lang="en-GB" dirty="0"/>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4565959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10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E7D552-8819-237B-3DDB-43E0C64CD7BE}"/>
              </a:ext>
            </a:extLst>
          </p:cNvPr>
          <p:cNvSpPr/>
          <p:nvPr userDrawn="1"/>
        </p:nvSpPr>
        <p:spPr>
          <a:xfrm>
            <a:off x="0" y="0"/>
            <a:ext cx="3941379" cy="68580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EF0A57F3-0ACA-4F97-8F4B-044C478ECD73}" type="datetime1">
              <a:rPr lang="en-GB" smtClean="0"/>
              <a:t>24/11/2025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GB" dirty="0"/>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lvl1pPr>
              <a:defRPr>
                <a:solidFill>
                  <a:schemeClr val="tx1">
                    <a:lumMod val="50000"/>
                    <a:lumOff val="50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10771578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1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E7D552-8819-237B-3DDB-43E0C64CD7BE}"/>
              </a:ext>
            </a:extLst>
          </p:cNvPr>
          <p:cNvSpPr/>
          <p:nvPr userDrawn="1"/>
        </p:nvSpPr>
        <p:spPr>
          <a:xfrm>
            <a:off x="0" y="0"/>
            <a:ext cx="3941379" cy="68580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941379" y="0"/>
            <a:ext cx="4309244" cy="68580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98B2C777-70C0-4C02-B3E6-52333DD3E7B5}" type="datetime1">
              <a:rPr lang="en-GB" smtClean="0"/>
              <a:t>24/11/2025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lvl1pPr>
              <a:defRPr>
                <a:solidFill>
                  <a:schemeClr val="tx1">
                    <a:lumMod val="50000"/>
                    <a:lumOff val="50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20279824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12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E7D552-8819-237B-3DDB-43E0C64CD7BE}"/>
              </a:ext>
            </a:extLst>
          </p:cNvPr>
          <p:cNvSpPr/>
          <p:nvPr userDrawn="1"/>
        </p:nvSpPr>
        <p:spPr>
          <a:xfrm>
            <a:off x="8357191" y="0"/>
            <a:ext cx="3826925" cy="68580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lvl1pPr>
              <a:defRPr>
                <a:solidFill>
                  <a:schemeClr val="tx1">
                    <a:lumMod val="50000"/>
                    <a:lumOff val="50000"/>
                  </a:schemeClr>
                </a:solidFill>
              </a:defRPr>
            </a:lvl1pPr>
          </a:lstStyle>
          <a:p>
            <a:fld id="{7C099E8B-34D3-4B0C-A197-6E36B0D6B63C}" type="datetime1">
              <a:rPr lang="en-GB" smtClean="0"/>
              <a:pPr/>
              <a:t>24/11/2025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GB" dirty="0"/>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40460766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w colour">
    <p:bg>
      <p:bgPr>
        <a:solidFill>
          <a:schemeClr val="accent3"/>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28A87C09-EA21-4155-B611-2CC395930E15}" type="datetime1">
              <a:rPr lang="en-GB" smtClean="0"/>
              <a:t>24/11/2025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9731003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3F2E4F-D69A-C303-0281-6BB8BC65FA1A}"/>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DFE483EC-461E-3DF8-7723-85858B62097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ED0BA06-04AB-09B5-645C-2091343E99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FD91B3F-7C7C-73B9-77CB-A11B1FCF85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167F290-2545-0C2B-78A6-D50CE3D009E9}"/>
              </a:ext>
            </a:extLst>
          </p:cNvPr>
          <p:cNvSpPr>
            <a:spLocks noGrp="1"/>
          </p:cNvSpPr>
          <p:nvPr>
            <p:ph type="dt" sz="half" idx="10"/>
          </p:nvPr>
        </p:nvSpPr>
        <p:spPr/>
        <p:txBody>
          <a:bodyPr/>
          <a:lstStyle/>
          <a:p>
            <a:fld id="{6F79A11A-ED8F-4ED2-9312-4CC96AE1BF80}" type="datetime1">
              <a:rPr lang="en-GB" smtClean="0"/>
              <a:t>24/11/2025</a:t>
            </a:fld>
            <a:endParaRPr lang="en-GB"/>
          </a:p>
        </p:txBody>
      </p:sp>
      <p:sp>
        <p:nvSpPr>
          <p:cNvPr id="6" name="Footer Placeholder 5">
            <a:extLst>
              <a:ext uri="{FF2B5EF4-FFF2-40B4-BE49-F238E27FC236}">
                <a16:creationId xmlns:a16="http://schemas.microsoft.com/office/drawing/2014/main" id="{770E117D-2169-6E39-149C-5FBECD5E76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83838A-4F66-F529-E239-3AE7FBEDEB56}"/>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2437353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4395A0-EB10-01E3-39B4-075A8ACEABC7}"/>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232FAE3E-C2EA-DDE4-4229-9EB50F2F14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D6131BBD-51CD-4DC2-4A60-8A48EA6C6A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a:extLst>
              <a:ext uri="{FF2B5EF4-FFF2-40B4-BE49-F238E27FC236}">
                <a16:creationId xmlns:a16="http://schemas.microsoft.com/office/drawing/2014/main" id="{683B0D01-09EF-1E92-D338-9CD0EBA943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2B20126-F846-16D0-EBDD-34D48607E985}"/>
              </a:ext>
            </a:extLst>
          </p:cNvPr>
          <p:cNvSpPr>
            <a:spLocks noGrp="1"/>
          </p:cNvSpPr>
          <p:nvPr>
            <p:ph type="dt" sz="half" idx="10"/>
          </p:nvPr>
        </p:nvSpPr>
        <p:spPr/>
        <p:txBody>
          <a:bodyPr/>
          <a:lstStyle/>
          <a:p>
            <a:fld id="{0B6C68C0-A076-429E-A777-1931EC9B8E4D}" type="datetime1">
              <a:rPr lang="en-GB" smtClean="0"/>
              <a:t>24/11/2025</a:t>
            </a:fld>
            <a:endParaRPr lang="en-GB"/>
          </a:p>
        </p:txBody>
      </p:sp>
      <p:sp>
        <p:nvSpPr>
          <p:cNvPr id="6" name="Footer Placeholder 5">
            <a:extLst>
              <a:ext uri="{FF2B5EF4-FFF2-40B4-BE49-F238E27FC236}">
                <a16:creationId xmlns:a16="http://schemas.microsoft.com/office/drawing/2014/main" id="{1F34FC57-C801-AEF4-1D0A-E095B6450A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951B0C-275C-33D2-9A96-4D0314E6EEA7}"/>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1061548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1A4EC-146B-3381-63D1-52F3C15CB004}"/>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B4BEF132-B0C4-CEBA-D9BB-A90CC2A65F9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5F3702-713A-C951-9CCF-955488BC645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E34A4F3-ECB2-56FC-3055-081257812145}"/>
              </a:ext>
            </a:extLst>
          </p:cNvPr>
          <p:cNvSpPr>
            <a:spLocks noGrp="1"/>
          </p:cNvSpPr>
          <p:nvPr>
            <p:ph type="dt" sz="half" idx="10"/>
          </p:nvPr>
        </p:nvSpPr>
        <p:spPr/>
        <p:txBody>
          <a:bodyPr/>
          <a:lstStyle/>
          <a:p>
            <a:fld id="{ED9063F7-3F3C-44CB-A8DA-AA5C2326D463}" type="datetime1">
              <a:rPr lang="en-GB" smtClean="0"/>
              <a:t>24/11/2025</a:t>
            </a:fld>
            <a:endParaRPr lang="en-GB"/>
          </a:p>
        </p:txBody>
      </p:sp>
      <p:sp>
        <p:nvSpPr>
          <p:cNvPr id="5" name="Footer Placeholder 4">
            <a:extLst>
              <a:ext uri="{FF2B5EF4-FFF2-40B4-BE49-F238E27FC236}">
                <a16:creationId xmlns:a16="http://schemas.microsoft.com/office/drawing/2014/main" id="{ED1849C6-D413-92F0-6B5F-27BB8AC757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79A6DE-F917-5ECB-80DB-4C5C9924B1F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6651151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13BEA-D64A-CDAB-CB01-CACA6AEFB654}"/>
              </a:ext>
            </a:extLst>
          </p:cNvPr>
          <p:cNvSpPr/>
          <p:nvPr userDrawn="1"/>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Vertical Title 1">
            <a:extLst>
              <a:ext uri="{FF2B5EF4-FFF2-40B4-BE49-F238E27FC236}">
                <a16:creationId xmlns:a16="http://schemas.microsoft.com/office/drawing/2014/main" id="{E2FFD24A-02C7-3C15-C6A2-2FE1816ED4E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7E5EB9-6E42-B9D7-5671-A15D13E2010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3BCAA2-15B7-B922-2788-5986E5EEAC91}"/>
              </a:ext>
            </a:extLst>
          </p:cNvPr>
          <p:cNvSpPr>
            <a:spLocks noGrp="1"/>
          </p:cNvSpPr>
          <p:nvPr>
            <p:ph type="dt" sz="half" idx="10"/>
          </p:nvPr>
        </p:nvSpPr>
        <p:spPr/>
        <p:txBody>
          <a:bodyPr/>
          <a:lstStyle/>
          <a:p>
            <a:fld id="{FF101816-FC01-43C5-B97E-DC8C2DC3512A}" type="datetime1">
              <a:rPr lang="en-GB" smtClean="0"/>
              <a:t>24/11/2025</a:t>
            </a:fld>
            <a:endParaRPr lang="en-GB"/>
          </a:p>
        </p:txBody>
      </p:sp>
      <p:sp>
        <p:nvSpPr>
          <p:cNvPr id="5" name="Footer Placeholder 4">
            <a:extLst>
              <a:ext uri="{FF2B5EF4-FFF2-40B4-BE49-F238E27FC236}">
                <a16:creationId xmlns:a16="http://schemas.microsoft.com/office/drawing/2014/main" id="{45AD40C5-A7B5-0CB8-7A77-77280AC6ED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DA6257-1CC9-8C66-1C48-A645172DCA15}"/>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131842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0A642-ABE6-FE0E-2BD1-AB0BC48CE2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E9047573-978D-7FA9-0D26-40779E9769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56631032-3BBA-DDD8-39F1-68FB671B8D3D}"/>
              </a:ext>
            </a:extLst>
          </p:cNvPr>
          <p:cNvSpPr>
            <a:spLocks noGrp="1"/>
          </p:cNvSpPr>
          <p:nvPr>
            <p:ph type="dt" sz="half" idx="2"/>
          </p:nvPr>
        </p:nvSpPr>
        <p:spPr>
          <a:xfrm>
            <a:off x="838200" y="6388249"/>
            <a:ext cx="2743200" cy="365125"/>
          </a:xfrm>
          <a:prstGeom prst="rect">
            <a:avLst/>
          </a:prstGeom>
        </p:spPr>
        <p:txBody>
          <a:bodyPr vert="horz" lIns="91440" tIns="45720" rIns="91440" bIns="45720" rtlCol="0" anchor="ctr"/>
          <a:lstStyle>
            <a:lvl1pPr algn="l">
              <a:defRPr sz="1200">
                <a:solidFill>
                  <a:schemeClr val="bg1"/>
                </a:solidFill>
              </a:defRPr>
            </a:lvl1pPr>
          </a:lstStyle>
          <a:p>
            <a:fld id="{AA67EF11-21BA-49CE-A52B-6F5B72AD0365}" type="datetime1">
              <a:rPr lang="en-GB" smtClean="0"/>
              <a:t>24/11/2025</a:t>
            </a:fld>
            <a:endParaRPr lang="en-GB" dirty="0"/>
          </a:p>
        </p:txBody>
      </p:sp>
      <p:sp>
        <p:nvSpPr>
          <p:cNvPr id="5" name="Footer Placeholder 4">
            <a:extLst>
              <a:ext uri="{FF2B5EF4-FFF2-40B4-BE49-F238E27FC236}">
                <a16:creationId xmlns:a16="http://schemas.microsoft.com/office/drawing/2014/main" id="{B8C0B08B-CD62-82DF-7BC9-CCDE7E5B639E}"/>
              </a:ext>
            </a:extLst>
          </p:cNvPr>
          <p:cNvSpPr>
            <a:spLocks noGrp="1"/>
          </p:cNvSpPr>
          <p:nvPr>
            <p:ph type="ftr" sz="quarter" idx="3"/>
          </p:nvPr>
        </p:nvSpPr>
        <p:spPr>
          <a:xfrm>
            <a:off x="4038600" y="6388249"/>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GB"/>
          </a:p>
        </p:txBody>
      </p:sp>
      <p:sp>
        <p:nvSpPr>
          <p:cNvPr id="6" name="Slide Number Placeholder 5">
            <a:extLst>
              <a:ext uri="{FF2B5EF4-FFF2-40B4-BE49-F238E27FC236}">
                <a16:creationId xmlns:a16="http://schemas.microsoft.com/office/drawing/2014/main" id="{02D453A8-267C-532B-1CCE-A59D105FDAE1}"/>
              </a:ext>
            </a:extLst>
          </p:cNvPr>
          <p:cNvSpPr>
            <a:spLocks noGrp="1"/>
          </p:cNvSpPr>
          <p:nvPr>
            <p:ph type="sldNum" sz="quarter" idx="4"/>
          </p:nvPr>
        </p:nvSpPr>
        <p:spPr>
          <a:xfrm>
            <a:off x="8610600" y="6388249"/>
            <a:ext cx="2743200" cy="365125"/>
          </a:xfrm>
          <a:prstGeom prst="rect">
            <a:avLst/>
          </a:prstGeom>
        </p:spPr>
        <p:txBody>
          <a:bodyPr vert="horz" lIns="91440" tIns="45720" rIns="91440" bIns="45720" rtlCol="0" anchor="ctr"/>
          <a:lstStyle>
            <a:lvl1pPr algn="r">
              <a:defRPr sz="1600" b="1">
                <a:solidFill>
                  <a:schemeClr val="bg1"/>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2006714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2" r:id="rId6"/>
    <p:sldLayoutId id="2147483653" r:id="rId7"/>
    <p:sldLayoutId id="2147483654" r:id="rId8"/>
    <p:sldLayoutId id="2147483655"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 id="2147483671" r:id="rId18"/>
    <p:sldLayoutId id="2147483672" r:id="rId19"/>
    <p:sldLayoutId id="2147483673" r:id="rId20"/>
    <p:sldLayoutId id="2147483674" r:id="rId21"/>
    <p:sldLayoutId id="2147483662" r:id="rId22"/>
    <p:sldLayoutId id="2147483656" r:id="rId23"/>
    <p:sldLayoutId id="2147483657" r:id="rId24"/>
    <p:sldLayoutId id="2147483658" r:id="rId25"/>
    <p:sldLayoutId id="2147483659" r:id="rId26"/>
  </p:sldLayoutIdLst>
  <p:hf hdr="0"/>
  <p:txStyles>
    <p:titleStyle>
      <a:lvl1pPr algn="l" defTabSz="914400" rtl="0" eaLnBrk="1" latinLnBrk="0" hangingPunct="1">
        <a:lnSpc>
          <a:spcPct val="90000"/>
        </a:lnSpc>
        <a:spcBef>
          <a:spcPct val="0"/>
        </a:spcBef>
        <a:buNone/>
        <a:defRPr sz="4400" b="1" kern="1200">
          <a:solidFill>
            <a:srgbClr val="004C6C"/>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59FA92C-B278-E264-6857-68AD13A165C3}"/>
              </a:ext>
            </a:extLst>
          </p:cNvPr>
          <p:cNvSpPr txBox="1">
            <a:spLocks noGrp="1"/>
          </p:cNvSpPr>
          <p:nvPr>
            <p:ph type="title" idx="4294967295"/>
          </p:nvPr>
        </p:nvSpPr>
        <p:spPr>
          <a:xfrm>
            <a:off x="846617" y="3198167"/>
            <a:ext cx="8064388" cy="1323439"/>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E" sz="4000" b="1" i="0" u="none" strike="noStrike" kern="1200" cap="none" spc="0" normalizeH="0" baseline="0" noProof="0" dirty="0">
                <a:ln>
                  <a:noFill/>
                </a:ln>
                <a:solidFill>
                  <a:schemeClr val="bg1"/>
                </a:solidFill>
                <a:effectLst/>
                <a:uLnTx/>
                <a:uFillTx/>
                <a:latin typeface="Helvetica" panose="020B0604020202020204" pitchFamily="34" charset="0"/>
                <a:ea typeface="Open sans"/>
                <a:cs typeface="Helvetica" panose="020B0604020202020204" pitchFamily="34" charset="0"/>
              </a:rPr>
              <a:t>FYP: Interim Demo and Presentation</a:t>
            </a:r>
            <a:endParaRPr kumimoji="0" lang="en-IE" sz="4000" b="1" i="0" u="none" strike="noStrike" kern="1200" cap="none" spc="0" normalizeH="0" baseline="0" noProof="0" dirty="0">
              <a:ln>
                <a:noFill/>
              </a:ln>
              <a:solidFill>
                <a:schemeClr val="bg1"/>
              </a:solidFill>
              <a:effectLst/>
              <a:uLnTx/>
              <a:uFillTx/>
              <a:latin typeface="Helvetica" panose="020B0604020202020204" pitchFamily="34" charset="0"/>
              <a:ea typeface="+mn-ea"/>
              <a:cs typeface="Helvetica" panose="020B0604020202020204" pitchFamily="34" charset="0"/>
            </a:endParaRPr>
          </a:p>
        </p:txBody>
      </p:sp>
      <p:sp>
        <p:nvSpPr>
          <p:cNvPr id="7" name="TextBox 6">
            <a:extLst>
              <a:ext uri="{FF2B5EF4-FFF2-40B4-BE49-F238E27FC236}">
                <a16:creationId xmlns:a16="http://schemas.microsoft.com/office/drawing/2014/main" id="{864DDB32-DB2C-944E-8629-808B9BC36D30}"/>
              </a:ext>
            </a:extLst>
          </p:cNvPr>
          <p:cNvSpPr txBox="1"/>
          <p:nvPr/>
        </p:nvSpPr>
        <p:spPr>
          <a:xfrm>
            <a:off x="387196" y="6106173"/>
            <a:ext cx="6438237" cy="492443"/>
          </a:xfrm>
          <a:prstGeom prst="rect">
            <a:avLst/>
          </a:prstGeom>
          <a:noFill/>
        </p:spPr>
        <p:txBody>
          <a:bodyPr wrap="none" lIns="91440" tIns="45720" rIns="91440" bIns="45720" rtlCol="0" anchor="t">
            <a:spAutoFit/>
          </a:bodyPr>
          <a:lstStyle/>
          <a:p>
            <a:r>
              <a:rPr lang="en-US" sz="2600" dirty="0">
                <a:solidFill>
                  <a:schemeClr val="bg1"/>
                </a:solidFill>
                <a:latin typeface="Open sans"/>
                <a:cs typeface="Open sans"/>
              </a:rPr>
              <a:t>11 Nov 2024, Final Year Project, Week 08</a:t>
            </a:r>
          </a:p>
        </p:txBody>
      </p:sp>
    </p:spTree>
    <p:extLst>
      <p:ext uri="{BB962C8B-B14F-4D97-AF65-F5344CB8AC3E}">
        <p14:creationId xmlns:p14="http://schemas.microsoft.com/office/powerpoint/2010/main" val="2740838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BACE7-3309-1D8F-7E4B-C11EEAD1100A}"/>
              </a:ext>
            </a:extLst>
          </p:cNvPr>
          <p:cNvSpPr>
            <a:spLocks noGrp="1"/>
          </p:cNvSpPr>
          <p:nvPr>
            <p:ph type="title"/>
          </p:nvPr>
        </p:nvSpPr>
        <p:spPr/>
        <p:txBody>
          <a:bodyPr/>
          <a:lstStyle/>
          <a:p>
            <a:r>
              <a:rPr lang="en-US" b="1" dirty="0">
                <a:latin typeface="Helvetica"/>
                <a:cs typeface="Helvetica"/>
              </a:rPr>
              <a:t>Lesson Outline</a:t>
            </a:r>
            <a:endParaRPr lang="en-US" dirty="0"/>
          </a:p>
        </p:txBody>
      </p:sp>
      <p:sp>
        <p:nvSpPr>
          <p:cNvPr id="3" name="Content Placeholder 2">
            <a:extLst>
              <a:ext uri="{FF2B5EF4-FFF2-40B4-BE49-F238E27FC236}">
                <a16:creationId xmlns:a16="http://schemas.microsoft.com/office/drawing/2014/main" id="{C1208D8C-727C-F3C1-1BDF-270C6D0E0F4B}"/>
              </a:ext>
            </a:extLst>
          </p:cNvPr>
          <p:cNvSpPr>
            <a:spLocks noGrp="1"/>
          </p:cNvSpPr>
          <p:nvPr>
            <p:ph idx="1"/>
          </p:nvPr>
        </p:nvSpPr>
        <p:spPr/>
        <p:txBody>
          <a:bodyPr vert="horz" lIns="91440" tIns="45720" rIns="91440" bIns="45720" rtlCol="0" anchor="t">
            <a:normAutofit/>
          </a:bodyPr>
          <a:lstStyle/>
          <a:p>
            <a:r>
              <a:rPr lang="en-GB" dirty="0">
                <a:latin typeface="Helvetica"/>
                <a:cs typeface="Helvetica"/>
              </a:rPr>
              <a:t>House-keeping / dates </a:t>
            </a:r>
            <a:r>
              <a:rPr lang="en-GB" i="1" dirty="0">
                <a:latin typeface="Helvetica"/>
                <a:cs typeface="Helvetica"/>
              </a:rPr>
              <a:t>etc.</a:t>
            </a:r>
            <a:endParaRPr lang="en-GB" dirty="0">
              <a:latin typeface="Helvetica"/>
              <a:cs typeface="Helvetica"/>
            </a:endParaRPr>
          </a:p>
          <a:p>
            <a:endParaRPr lang="en-GB" dirty="0">
              <a:latin typeface="Helvetica" panose="020B0604020202020204" pitchFamily="34" charset="0"/>
              <a:cs typeface="Helvetica" panose="020B0604020202020204" pitchFamily="34" charset="0"/>
            </a:endParaRPr>
          </a:p>
          <a:p>
            <a:r>
              <a:rPr lang="en-GB" dirty="0">
                <a:latin typeface="Helvetica" panose="020B0604020202020204" pitchFamily="34" charset="0"/>
                <a:cs typeface="Helvetica" panose="020B0604020202020204" pitchFamily="34" charset="0"/>
              </a:rPr>
              <a:t>Interim Demo Overview</a:t>
            </a:r>
          </a:p>
          <a:p>
            <a:endParaRPr lang="en-GB" dirty="0">
              <a:latin typeface="Helvetica" panose="020B0604020202020204" pitchFamily="34" charset="0"/>
              <a:cs typeface="Helvetica" panose="020B0604020202020204" pitchFamily="34" charset="0"/>
            </a:endParaRPr>
          </a:p>
          <a:p>
            <a:r>
              <a:rPr lang="en-GB" dirty="0">
                <a:latin typeface="Helvetica"/>
                <a:cs typeface="Helvetica"/>
              </a:rPr>
              <a:t>Interim Demo Demo</a:t>
            </a:r>
          </a:p>
        </p:txBody>
      </p:sp>
      <p:sp>
        <p:nvSpPr>
          <p:cNvPr id="4" name="Slide Number Placeholder 3">
            <a:extLst>
              <a:ext uri="{FF2B5EF4-FFF2-40B4-BE49-F238E27FC236}">
                <a16:creationId xmlns:a16="http://schemas.microsoft.com/office/drawing/2014/main" id="{D2F828EE-4FFD-60C0-0276-A2A87F698B2A}"/>
              </a:ext>
            </a:extLst>
          </p:cNvPr>
          <p:cNvSpPr>
            <a:spLocks noGrp="1"/>
          </p:cNvSpPr>
          <p:nvPr>
            <p:ph type="sldNum" sz="quarter" idx="12"/>
          </p:nvPr>
        </p:nvSpPr>
        <p:spPr/>
        <p:txBody>
          <a:bodyPr/>
          <a:lstStyle/>
          <a:p>
            <a:fld id="{1AE971F0-0CD2-4C47-8087-EBCE9716EA84}" type="slidenum">
              <a:rPr lang="en-GB" smtClean="0"/>
              <a:t>2</a:t>
            </a:fld>
            <a:endParaRPr lang="en-GB"/>
          </a:p>
        </p:txBody>
      </p:sp>
      <p:sp>
        <p:nvSpPr>
          <p:cNvPr id="5" name="Date Placeholder 4">
            <a:extLst>
              <a:ext uri="{FF2B5EF4-FFF2-40B4-BE49-F238E27FC236}">
                <a16:creationId xmlns:a16="http://schemas.microsoft.com/office/drawing/2014/main" id="{A373D803-12B6-C110-B5DE-B5645584DC75}"/>
              </a:ext>
            </a:extLst>
          </p:cNvPr>
          <p:cNvSpPr>
            <a:spLocks noGrp="1"/>
          </p:cNvSpPr>
          <p:nvPr>
            <p:ph type="dt" sz="half" idx="10"/>
          </p:nvPr>
        </p:nvSpPr>
        <p:spPr/>
        <p:txBody>
          <a:bodyPr/>
          <a:lstStyle/>
          <a:p>
            <a:fld id="{E437D56C-3A45-49E6-B8A4-0FC6BC097E06}" type="datetime1">
              <a:rPr lang="en-GB" smtClean="0"/>
              <a:t>24/11/2025</a:t>
            </a:fld>
            <a:endParaRPr lang="en-GB" dirty="0"/>
          </a:p>
        </p:txBody>
      </p:sp>
      <p:sp>
        <p:nvSpPr>
          <p:cNvPr id="6" name="Footer Placeholder 5">
            <a:extLst>
              <a:ext uri="{FF2B5EF4-FFF2-40B4-BE49-F238E27FC236}">
                <a16:creationId xmlns:a16="http://schemas.microsoft.com/office/drawing/2014/main" id="{451C7ED2-D128-E8E3-B104-B7EB634C0C7D}"/>
              </a:ext>
            </a:extLst>
          </p:cNvPr>
          <p:cNvSpPr>
            <a:spLocks noGrp="1"/>
          </p:cNvSpPr>
          <p:nvPr>
            <p:ph type="ftr" sz="quarter" idx="11"/>
          </p:nvPr>
        </p:nvSpPr>
        <p:spPr/>
        <p:txBody>
          <a:bodyPr/>
          <a:lstStyle/>
          <a:p>
            <a:endParaRPr lang="en-GB" dirty="0"/>
          </a:p>
        </p:txBody>
      </p:sp>
    </p:spTree>
    <p:extLst>
      <p:ext uri="{BB962C8B-B14F-4D97-AF65-F5344CB8AC3E}">
        <p14:creationId xmlns:p14="http://schemas.microsoft.com/office/powerpoint/2010/main" val="1505644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2113-2C20-FFA1-F255-1E7447FFF6A5}"/>
              </a:ext>
            </a:extLst>
          </p:cNvPr>
          <p:cNvSpPr>
            <a:spLocks noGrp="1"/>
          </p:cNvSpPr>
          <p:nvPr>
            <p:ph type="title"/>
          </p:nvPr>
        </p:nvSpPr>
        <p:spPr/>
        <p:txBody>
          <a:bodyPr/>
          <a:lstStyle/>
          <a:p>
            <a:r>
              <a:rPr lang="en-GB" dirty="0"/>
              <a:t>Submission Dates</a:t>
            </a:r>
          </a:p>
        </p:txBody>
      </p:sp>
      <p:sp>
        <p:nvSpPr>
          <p:cNvPr id="3" name="Content Placeholder 2">
            <a:extLst>
              <a:ext uri="{FF2B5EF4-FFF2-40B4-BE49-F238E27FC236}">
                <a16:creationId xmlns:a16="http://schemas.microsoft.com/office/drawing/2014/main" id="{479C7DC4-17F4-C0F0-BE38-35C272A3CC4F}"/>
              </a:ext>
            </a:extLst>
          </p:cNvPr>
          <p:cNvSpPr>
            <a:spLocks noGrp="1"/>
          </p:cNvSpPr>
          <p:nvPr>
            <p:ph idx="1"/>
          </p:nvPr>
        </p:nvSpPr>
        <p:spPr/>
        <p:txBody>
          <a:bodyPr>
            <a:normAutofit/>
          </a:bodyPr>
          <a:lstStyle/>
          <a:p>
            <a:r>
              <a:rPr lang="en-GB" dirty="0"/>
              <a:t>Interim submission is </a:t>
            </a:r>
            <a:r>
              <a:rPr lang="en-GB" b="1" dirty="0"/>
              <a:t>Friday 28</a:t>
            </a:r>
            <a:r>
              <a:rPr lang="en-GB" b="1" baseline="30000" dirty="0"/>
              <a:t>th</a:t>
            </a:r>
            <a:r>
              <a:rPr lang="en-GB" b="1" dirty="0"/>
              <a:t> November </a:t>
            </a:r>
            <a:r>
              <a:rPr lang="en-GB" dirty="0"/>
              <a:t>at 20:00</a:t>
            </a:r>
          </a:p>
          <a:p>
            <a:pPr lvl="1"/>
            <a:r>
              <a:rPr lang="en-GB" dirty="0"/>
              <a:t>Slides</a:t>
            </a:r>
          </a:p>
          <a:p>
            <a:pPr lvl="1"/>
            <a:r>
              <a:rPr lang="en-GB" dirty="0"/>
              <a:t>Any code</a:t>
            </a:r>
          </a:p>
          <a:p>
            <a:r>
              <a:rPr lang="en-GB" dirty="0"/>
              <a:t>Demos </a:t>
            </a:r>
            <a:r>
              <a:rPr lang="en-GB" i="1" dirty="0"/>
              <a:t>week beginning 1</a:t>
            </a:r>
            <a:r>
              <a:rPr lang="en-GB" i="1" baseline="30000" dirty="0"/>
              <a:t>st</a:t>
            </a:r>
            <a:r>
              <a:rPr lang="en-GB" i="1" dirty="0"/>
              <a:t> December</a:t>
            </a:r>
          </a:p>
          <a:p>
            <a:r>
              <a:rPr lang="en-GB" b="1" i="1" dirty="0"/>
              <a:t>Extension possible with approved PC-1 and supporting evidence</a:t>
            </a:r>
          </a:p>
        </p:txBody>
      </p:sp>
      <p:sp>
        <p:nvSpPr>
          <p:cNvPr id="4" name="Date Placeholder 3">
            <a:extLst>
              <a:ext uri="{FF2B5EF4-FFF2-40B4-BE49-F238E27FC236}">
                <a16:creationId xmlns:a16="http://schemas.microsoft.com/office/drawing/2014/main" id="{F8F72392-3C01-E926-F3EE-F286CF000A93}"/>
              </a:ext>
            </a:extLst>
          </p:cNvPr>
          <p:cNvSpPr>
            <a:spLocks noGrp="1"/>
          </p:cNvSpPr>
          <p:nvPr>
            <p:ph type="dt" sz="half" idx="10"/>
          </p:nvPr>
        </p:nvSpPr>
        <p:spPr/>
        <p:txBody>
          <a:bodyPr/>
          <a:lstStyle/>
          <a:p>
            <a:fld id="{455A260C-3404-41FA-B566-D7C80AB17B9C}" type="datetime1">
              <a:rPr lang="en-GB" smtClean="0"/>
              <a:t>24/11/2025</a:t>
            </a:fld>
            <a:endParaRPr lang="en-GB" dirty="0"/>
          </a:p>
        </p:txBody>
      </p:sp>
      <p:sp>
        <p:nvSpPr>
          <p:cNvPr id="5" name="Footer Placeholder 4">
            <a:extLst>
              <a:ext uri="{FF2B5EF4-FFF2-40B4-BE49-F238E27FC236}">
                <a16:creationId xmlns:a16="http://schemas.microsoft.com/office/drawing/2014/main" id="{8E8AC24F-2448-CC5B-48F3-935462FD839A}"/>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792969E8-F4F7-6F3F-5EB2-0BA272D6AB5B}"/>
              </a:ext>
            </a:extLst>
          </p:cNvPr>
          <p:cNvSpPr>
            <a:spLocks noGrp="1"/>
          </p:cNvSpPr>
          <p:nvPr>
            <p:ph type="sldNum" sz="quarter" idx="12"/>
          </p:nvPr>
        </p:nvSpPr>
        <p:spPr/>
        <p:txBody>
          <a:bodyPr/>
          <a:lstStyle/>
          <a:p>
            <a:fld id="{1AE971F0-0CD2-4C47-8087-EBCE9716EA84}" type="slidenum">
              <a:rPr lang="en-GB" smtClean="0"/>
              <a:pPr/>
              <a:t>3</a:t>
            </a:fld>
            <a:endParaRPr lang="en-GB" dirty="0"/>
          </a:p>
        </p:txBody>
      </p:sp>
    </p:spTree>
    <p:extLst>
      <p:ext uri="{BB962C8B-B14F-4D97-AF65-F5344CB8AC3E}">
        <p14:creationId xmlns:p14="http://schemas.microsoft.com/office/powerpoint/2010/main" val="272531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91DFF-EC4D-DD71-7C46-2B284BE0E967}"/>
              </a:ext>
            </a:extLst>
          </p:cNvPr>
          <p:cNvSpPr>
            <a:spLocks noGrp="1"/>
          </p:cNvSpPr>
          <p:nvPr>
            <p:ph type="title"/>
          </p:nvPr>
        </p:nvSpPr>
        <p:spPr/>
        <p:txBody>
          <a:bodyPr/>
          <a:lstStyle/>
          <a:p>
            <a:r>
              <a:rPr lang="en-GB" dirty="0"/>
              <a:t>Late Penalties</a:t>
            </a:r>
          </a:p>
        </p:txBody>
      </p:sp>
      <p:graphicFrame>
        <p:nvGraphicFramePr>
          <p:cNvPr id="7" name="Content Placeholder 6">
            <a:extLst>
              <a:ext uri="{FF2B5EF4-FFF2-40B4-BE49-F238E27FC236}">
                <a16:creationId xmlns:a16="http://schemas.microsoft.com/office/drawing/2014/main" id="{D0F6571E-4DFD-B668-D09B-15493408C4F3}"/>
              </a:ext>
            </a:extLst>
          </p:cNvPr>
          <p:cNvGraphicFramePr>
            <a:graphicFrameLocks noGrp="1"/>
          </p:cNvGraphicFramePr>
          <p:nvPr>
            <p:ph idx="1"/>
            <p:extLst>
              <p:ext uri="{D42A27DB-BD31-4B8C-83A1-F6EECF244321}">
                <p14:modId xmlns:p14="http://schemas.microsoft.com/office/powerpoint/2010/main" val="3160855143"/>
              </p:ext>
            </p:extLst>
          </p:nvPr>
        </p:nvGraphicFramePr>
        <p:xfrm>
          <a:off x="838200" y="1825625"/>
          <a:ext cx="10515597" cy="148336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4177295555"/>
                    </a:ext>
                  </a:extLst>
                </a:gridCol>
                <a:gridCol w="3505199">
                  <a:extLst>
                    <a:ext uri="{9D8B030D-6E8A-4147-A177-3AD203B41FA5}">
                      <a16:colId xmlns:a16="http://schemas.microsoft.com/office/drawing/2014/main" val="2490998023"/>
                    </a:ext>
                  </a:extLst>
                </a:gridCol>
                <a:gridCol w="3505199">
                  <a:extLst>
                    <a:ext uri="{9D8B030D-6E8A-4147-A177-3AD203B41FA5}">
                      <a16:colId xmlns:a16="http://schemas.microsoft.com/office/drawing/2014/main" val="2009239611"/>
                    </a:ext>
                  </a:extLst>
                </a:gridCol>
              </a:tblGrid>
              <a:tr h="370840">
                <a:tc>
                  <a:txBody>
                    <a:bodyPr/>
                    <a:lstStyle/>
                    <a:p>
                      <a:r>
                        <a:rPr lang="en-GB" dirty="0"/>
                        <a:t>Days Late</a:t>
                      </a:r>
                    </a:p>
                  </a:txBody>
                  <a:tcPr/>
                </a:tc>
                <a:tc>
                  <a:txBody>
                    <a:bodyPr/>
                    <a:lstStyle/>
                    <a:p>
                      <a:r>
                        <a:rPr lang="en-GB" dirty="0"/>
                        <a:t>Penalty</a:t>
                      </a:r>
                    </a:p>
                  </a:txBody>
                  <a:tcPr/>
                </a:tc>
                <a:tc>
                  <a:txBody>
                    <a:bodyPr/>
                    <a:lstStyle/>
                    <a:p>
                      <a:r>
                        <a:rPr lang="en-GB" dirty="0"/>
                        <a:t>Multiplicative Factor</a:t>
                      </a:r>
                    </a:p>
                  </a:txBody>
                  <a:tcPr/>
                </a:tc>
                <a:extLst>
                  <a:ext uri="{0D108BD9-81ED-4DB2-BD59-A6C34878D82A}">
                    <a16:rowId xmlns:a16="http://schemas.microsoft.com/office/drawing/2014/main" val="3094418094"/>
                  </a:ext>
                </a:extLst>
              </a:tr>
              <a:tr h="370840">
                <a:tc>
                  <a:txBody>
                    <a:bodyPr/>
                    <a:lstStyle/>
                    <a:p>
                      <a:r>
                        <a:rPr lang="en-GB" dirty="0"/>
                        <a:t>1 – 7 days</a:t>
                      </a:r>
                    </a:p>
                  </a:txBody>
                  <a:tcPr/>
                </a:tc>
                <a:tc>
                  <a:txBody>
                    <a:bodyPr/>
                    <a:lstStyle/>
                    <a:p>
                      <a:r>
                        <a:rPr lang="en-GB" dirty="0"/>
                        <a:t>-30%</a:t>
                      </a:r>
                    </a:p>
                  </a:txBody>
                  <a:tcPr/>
                </a:tc>
                <a:tc>
                  <a:txBody>
                    <a:bodyPr/>
                    <a:lstStyle/>
                    <a:p>
                      <a:r>
                        <a:rPr lang="en-GB" dirty="0"/>
                        <a:t>0.7</a:t>
                      </a:r>
                    </a:p>
                  </a:txBody>
                  <a:tcPr/>
                </a:tc>
                <a:extLst>
                  <a:ext uri="{0D108BD9-81ED-4DB2-BD59-A6C34878D82A}">
                    <a16:rowId xmlns:a16="http://schemas.microsoft.com/office/drawing/2014/main" val="3961389146"/>
                  </a:ext>
                </a:extLst>
              </a:tr>
              <a:tr h="370840">
                <a:tc>
                  <a:txBody>
                    <a:bodyPr/>
                    <a:lstStyle/>
                    <a:p>
                      <a:r>
                        <a:rPr lang="en-GB" dirty="0"/>
                        <a:t>8 – 14 days</a:t>
                      </a:r>
                    </a:p>
                  </a:txBody>
                  <a:tcPr/>
                </a:tc>
                <a:tc>
                  <a:txBody>
                    <a:bodyPr/>
                    <a:lstStyle/>
                    <a:p>
                      <a:r>
                        <a:rPr lang="en-GB" dirty="0"/>
                        <a:t>-50%</a:t>
                      </a:r>
                    </a:p>
                  </a:txBody>
                  <a:tcPr/>
                </a:tc>
                <a:tc>
                  <a:txBody>
                    <a:bodyPr/>
                    <a:lstStyle/>
                    <a:p>
                      <a:r>
                        <a:rPr lang="en-GB" dirty="0"/>
                        <a:t>0.5</a:t>
                      </a:r>
                    </a:p>
                  </a:txBody>
                  <a:tcPr/>
                </a:tc>
                <a:extLst>
                  <a:ext uri="{0D108BD9-81ED-4DB2-BD59-A6C34878D82A}">
                    <a16:rowId xmlns:a16="http://schemas.microsoft.com/office/drawing/2014/main" val="3524149232"/>
                  </a:ext>
                </a:extLst>
              </a:tr>
              <a:tr h="370840">
                <a:tc>
                  <a:txBody>
                    <a:bodyPr/>
                    <a:lstStyle/>
                    <a:p>
                      <a:r>
                        <a:rPr lang="en-GB" dirty="0"/>
                        <a:t>15+ days</a:t>
                      </a:r>
                    </a:p>
                  </a:txBody>
                  <a:tcPr/>
                </a:tc>
                <a:tc>
                  <a:txBody>
                    <a:bodyPr/>
                    <a:lstStyle/>
                    <a:p>
                      <a:r>
                        <a:rPr lang="en-GB" dirty="0"/>
                        <a:t>-100%</a:t>
                      </a:r>
                    </a:p>
                  </a:txBody>
                  <a:tcPr/>
                </a:tc>
                <a:tc>
                  <a:txBody>
                    <a:bodyPr/>
                    <a:lstStyle/>
                    <a:p>
                      <a:r>
                        <a:rPr lang="en-GB" dirty="0"/>
                        <a:t>0.0</a:t>
                      </a:r>
                    </a:p>
                  </a:txBody>
                  <a:tcPr/>
                </a:tc>
                <a:extLst>
                  <a:ext uri="{0D108BD9-81ED-4DB2-BD59-A6C34878D82A}">
                    <a16:rowId xmlns:a16="http://schemas.microsoft.com/office/drawing/2014/main" val="1667944318"/>
                  </a:ext>
                </a:extLst>
              </a:tr>
            </a:tbl>
          </a:graphicData>
        </a:graphic>
      </p:graphicFrame>
      <p:sp>
        <p:nvSpPr>
          <p:cNvPr id="4" name="Date Placeholder 3">
            <a:extLst>
              <a:ext uri="{FF2B5EF4-FFF2-40B4-BE49-F238E27FC236}">
                <a16:creationId xmlns:a16="http://schemas.microsoft.com/office/drawing/2014/main" id="{CB3D0B2B-A9A1-747F-1E8C-F9DE33CEF74F}"/>
              </a:ext>
            </a:extLst>
          </p:cNvPr>
          <p:cNvSpPr>
            <a:spLocks noGrp="1"/>
          </p:cNvSpPr>
          <p:nvPr>
            <p:ph type="dt" sz="half" idx="10"/>
          </p:nvPr>
        </p:nvSpPr>
        <p:spPr/>
        <p:txBody>
          <a:bodyPr/>
          <a:lstStyle/>
          <a:p>
            <a:fld id="{455A260C-3404-41FA-B566-D7C80AB17B9C}" type="datetime1">
              <a:rPr lang="en-GB" smtClean="0"/>
              <a:t>24/11/2025</a:t>
            </a:fld>
            <a:endParaRPr lang="en-GB" dirty="0"/>
          </a:p>
        </p:txBody>
      </p:sp>
      <p:sp>
        <p:nvSpPr>
          <p:cNvPr id="5" name="Footer Placeholder 4">
            <a:extLst>
              <a:ext uri="{FF2B5EF4-FFF2-40B4-BE49-F238E27FC236}">
                <a16:creationId xmlns:a16="http://schemas.microsoft.com/office/drawing/2014/main" id="{B1EB8039-38BE-0E60-8613-9F91059D0E10}"/>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614BC7F7-B493-C691-82CB-7D61B482C4CC}"/>
              </a:ext>
            </a:extLst>
          </p:cNvPr>
          <p:cNvSpPr>
            <a:spLocks noGrp="1"/>
          </p:cNvSpPr>
          <p:nvPr>
            <p:ph type="sldNum" sz="quarter" idx="12"/>
          </p:nvPr>
        </p:nvSpPr>
        <p:spPr/>
        <p:txBody>
          <a:bodyPr/>
          <a:lstStyle/>
          <a:p>
            <a:fld id="{1AE971F0-0CD2-4C47-8087-EBCE9716EA84}" type="slidenum">
              <a:rPr lang="en-GB" smtClean="0"/>
              <a:pPr/>
              <a:t>4</a:t>
            </a:fld>
            <a:endParaRPr lang="en-GB" dirty="0"/>
          </a:p>
        </p:txBody>
      </p:sp>
      <p:sp>
        <p:nvSpPr>
          <p:cNvPr id="8" name="TextBox 7">
            <a:extLst>
              <a:ext uri="{FF2B5EF4-FFF2-40B4-BE49-F238E27FC236}">
                <a16:creationId xmlns:a16="http://schemas.microsoft.com/office/drawing/2014/main" id="{063D7C6D-F816-0D53-8520-CC2B4846AC25}"/>
              </a:ext>
            </a:extLst>
          </p:cNvPr>
          <p:cNvSpPr txBox="1"/>
          <p:nvPr/>
        </p:nvSpPr>
        <p:spPr>
          <a:xfrm>
            <a:off x="838200" y="3911600"/>
            <a:ext cx="10515597" cy="646331"/>
          </a:xfrm>
          <a:prstGeom prst="rect">
            <a:avLst/>
          </a:prstGeom>
          <a:noFill/>
        </p:spPr>
        <p:txBody>
          <a:bodyPr wrap="square" rtlCol="0">
            <a:spAutoFit/>
          </a:bodyPr>
          <a:lstStyle/>
          <a:p>
            <a:r>
              <a:rPr lang="en-GB" i="1" dirty="0"/>
              <a:t>e.g.</a:t>
            </a:r>
            <a:r>
              <a:rPr lang="en-GB" dirty="0"/>
              <a:t> </a:t>
            </a:r>
          </a:p>
          <a:p>
            <a:r>
              <a:rPr lang="en-GB" dirty="0"/>
              <a:t>	Interim result = 70%. Project submitted 8 days late. Final mark = 70 * 0.5 = 35% </a:t>
            </a:r>
            <a:endParaRPr lang="en-GB" i="1" dirty="0"/>
          </a:p>
        </p:txBody>
      </p:sp>
    </p:spTree>
    <p:extLst>
      <p:ext uri="{BB962C8B-B14F-4D97-AF65-F5344CB8AC3E}">
        <p14:creationId xmlns:p14="http://schemas.microsoft.com/office/powerpoint/2010/main" val="873530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29D9D-1FA7-CEFB-685E-3908D9D15AF3}"/>
              </a:ext>
            </a:extLst>
          </p:cNvPr>
          <p:cNvSpPr>
            <a:spLocks noGrp="1"/>
          </p:cNvSpPr>
          <p:nvPr>
            <p:ph type="title"/>
          </p:nvPr>
        </p:nvSpPr>
        <p:spPr/>
        <p:txBody>
          <a:bodyPr/>
          <a:lstStyle/>
          <a:p>
            <a:r>
              <a:rPr lang="en-GB" dirty="0"/>
              <a:t>Feedback</a:t>
            </a:r>
          </a:p>
        </p:txBody>
      </p:sp>
      <p:sp>
        <p:nvSpPr>
          <p:cNvPr id="3" name="Content Placeholder 2">
            <a:extLst>
              <a:ext uri="{FF2B5EF4-FFF2-40B4-BE49-F238E27FC236}">
                <a16:creationId xmlns:a16="http://schemas.microsoft.com/office/drawing/2014/main" id="{5ECCFE0B-A27B-954F-EC89-DB9A5C996F21}"/>
              </a:ext>
            </a:extLst>
          </p:cNvPr>
          <p:cNvSpPr>
            <a:spLocks noGrp="1"/>
          </p:cNvSpPr>
          <p:nvPr>
            <p:ph idx="1"/>
          </p:nvPr>
        </p:nvSpPr>
        <p:spPr/>
        <p:txBody>
          <a:bodyPr/>
          <a:lstStyle/>
          <a:p>
            <a:r>
              <a:rPr lang="en-GB" dirty="0"/>
              <a:t>Interim results not released until Summer</a:t>
            </a:r>
          </a:p>
          <a:p>
            <a:r>
              <a:rPr lang="en-GB" dirty="0"/>
              <a:t>Your supervisor will provide </a:t>
            </a:r>
            <a:r>
              <a:rPr lang="en-GB" i="1" dirty="0"/>
              <a:t>formative assessment</a:t>
            </a:r>
            <a:endParaRPr lang="en-GB" dirty="0"/>
          </a:p>
          <a:p>
            <a:r>
              <a:rPr lang="en-GB" dirty="0"/>
              <a:t>Good idea to take second reader’s suggestions on board</a:t>
            </a:r>
          </a:p>
        </p:txBody>
      </p:sp>
      <p:sp>
        <p:nvSpPr>
          <p:cNvPr id="4" name="Date Placeholder 3">
            <a:extLst>
              <a:ext uri="{FF2B5EF4-FFF2-40B4-BE49-F238E27FC236}">
                <a16:creationId xmlns:a16="http://schemas.microsoft.com/office/drawing/2014/main" id="{E0055F4D-D3A7-F9C2-0CF3-68263669666D}"/>
              </a:ext>
            </a:extLst>
          </p:cNvPr>
          <p:cNvSpPr>
            <a:spLocks noGrp="1"/>
          </p:cNvSpPr>
          <p:nvPr>
            <p:ph type="dt" sz="half" idx="10"/>
          </p:nvPr>
        </p:nvSpPr>
        <p:spPr/>
        <p:txBody>
          <a:bodyPr/>
          <a:lstStyle/>
          <a:p>
            <a:fld id="{455A260C-3404-41FA-B566-D7C80AB17B9C}" type="datetime1">
              <a:rPr lang="en-GB" smtClean="0"/>
              <a:t>24/11/2025</a:t>
            </a:fld>
            <a:endParaRPr lang="en-GB" dirty="0"/>
          </a:p>
        </p:txBody>
      </p:sp>
      <p:sp>
        <p:nvSpPr>
          <p:cNvPr id="5" name="Footer Placeholder 4">
            <a:extLst>
              <a:ext uri="{FF2B5EF4-FFF2-40B4-BE49-F238E27FC236}">
                <a16:creationId xmlns:a16="http://schemas.microsoft.com/office/drawing/2014/main" id="{722738F6-5A2E-4FCB-67E9-7D0EB334A433}"/>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7057B4D8-4761-14D3-9931-205B046AA971}"/>
              </a:ext>
            </a:extLst>
          </p:cNvPr>
          <p:cNvSpPr>
            <a:spLocks noGrp="1"/>
          </p:cNvSpPr>
          <p:nvPr>
            <p:ph type="sldNum" sz="quarter" idx="12"/>
          </p:nvPr>
        </p:nvSpPr>
        <p:spPr/>
        <p:txBody>
          <a:bodyPr/>
          <a:lstStyle/>
          <a:p>
            <a:fld id="{1AE971F0-0CD2-4C47-8087-EBCE9716EA84}" type="slidenum">
              <a:rPr lang="en-GB" smtClean="0"/>
              <a:pPr/>
              <a:t>5</a:t>
            </a:fld>
            <a:endParaRPr lang="en-GB" dirty="0"/>
          </a:p>
        </p:txBody>
      </p:sp>
    </p:spTree>
    <p:extLst>
      <p:ext uri="{BB962C8B-B14F-4D97-AF65-F5344CB8AC3E}">
        <p14:creationId xmlns:p14="http://schemas.microsoft.com/office/powerpoint/2010/main" val="570182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15265A-C9B2-09DA-FCFB-66314CA9C5AA}"/>
              </a:ext>
            </a:extLst>
          </p:cNvPr>
          <p:cNvSpPr>
            <a:spLocks noGrp="1"/>
          </p:cNvSpPr>
          <p:nvPr>
            <p:ph type="dt" sz="half" idx="10"/>
          </p:nvPr>
        </p:nvSpPr>
        <p:spPr/>
        <p:txBody>
          <a:bodyPr/>
          <a:lstStyle/>
          <a:p>
            <a:fld id="{28A87C09-EA21-4155-B611-2CC395930E15}" type="datetime1">
              <a:rPr lang="en-GB" smtClean="0"/>
              <a:t>24/11/2025</a:t>
            </a:fld>
            <a:endParaRPr lang="en-GB"/>
          </a:p>
        </p:txBody>
      </p:sp>
      <p:sp>
        <p:nvSpPr>
          <p:cNvPr id="3" name="Footer Placeholder 2">
            <a:extLst>
              <a:ext uri="{FF2B5EF4-FFF2-40B4-BE49-F238E27FC236}">
                <a16:creationId xmlns:a16="http://schemas.microsoft.com/office/drawing/2014/main" id="{E7201FA9-3638-FB12-491D-908646FF77F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EEC6C65-198A-A459-157D-DB2EBFADED6B}"/>
              </a:ext>
            </a:extLst>
          </p:cNvPr>
          <p:cNvSpPr>
            <a:spLocks noGrp="1"/>
          </p:cNvSpPr>
          <p:nvPr>
            <p:ph type="sldNum" sz="quarter" idx="12"/>
          </p:nvPr>
        </p:nvSpPr>
        <p:spPr/>
        <p:txBody>
          <a:bodyPr/>
          <a:lstStyle/>
          <a:p>
            <a:fld id="{1AE971F0-0CD2-4C47-8087-EBCE9716EA84}" type="slidenum">
              <a:rPr lang="en-GB" smtClean="0"/>
              <a:t>6</a:t>
            </a:fld>
            <a:endParaRPr lang="en-GB"/>
          </a:p>
        </p:txBody>
      </p:sp>
      <p:sp>
        <p:nvSpPr>
          <p:cNvPr id="5" name="TextBox 4">
            <a:extLst>
              <a:ext uri="{FF2B5EF4-FFF2-40B4-BE49-F238E27FC236}">
                <a16:creationId xmlns:a16="http://schemas.microsoft.com/office/drawing/2014/main" id="{E21B68A8-95C2-2B80-329E-74C7D610CCB6}"/>
              </a:ext>
            </a:extLst>
          </p:cNvPr>
          <p:cNvSpPr txBox="1"/>
          <p:nvPr/>
        </p:nvSpPr>
        <p:spPr>
          <a:xfrm>
            <a:off x="1879600" y="2265402"/>
            <a:ext cx="9474200" cy="2123658"/>
          </a:xfrm>
          <a:prstGeom prst="rect">
            <a:avLst/>
          </a:prstGeom>
          <a:noFill/>
        </p:spPr>
        <p:txBody>
          <a:bodyPr wrap="square" rtlCol="0">
            <a:spAutoFit/>
          </a:bodyPr>
          <a:lstStyle/>
          <a:p>
            <a:r>
              <a:rPr lang="en-GB" sz="6600" b="1" dirty="0">
                <a:solidFill>
                  <a:srgbClr val="FAFBFC"/>
                </a:solidFill>
                <a:latin typeface="+mj-lt"/>
              </a:rPr>
              <a:t>What’s required for the interim submission</a:t>
            </a:r>
            <a:endParaRPr lang="en-GB" sz="6600" b="1" dirty="0">
              <a:solidFill>
                <a:srgbClr val="FAFBFC"/>
              </a:solidFill>
            </a:endParaRPr>
          </a:p>
        </p:txBody>
      </p:sp>
    </p:spTree>
    <p:extLst>
      <p:ext uri="{BB962C8B-B14F-4D97-AF65-F5344CB8AC3E}">
        <p14:creationId xmlns:p14="http://schemas.microsoft.com/office/powerpoint/2010/main" val="358404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6F38F5-6BA2-BF7B-E5FC-C1913B059F45}"/>
              </a:ext>
            </a:extLst>
          </p:cNvPr>
          <p:cNvSpPr>
            <a:spLocks noGrp="1"/>
          </p:cNvSpPr>
          <p:nvPr>
            <p:ph type="dt" sz="half" idx="10"/>
          </p:nvPr>
        </p:nvSpPr>
        <p:spPr/>
        <p:txBody>
          <a:bodyPr/>
          <a:lstStyle/>
          <a:p>
            <a:fld id="{C539BAFE-1C58-4281-B660-E6D6B17C58DE}" type="datetime1">
              <a:rPr lang="en-GB" smtClean="0"/>
              <a:t>24/11/2025</a:t>
            </a:fld>
            <a:endParaRPr lang="en-GB"/>
          </a:p>
        </p:txBody>
      </p:sp>
      <p:sp>
        <p:nvSpPr>
          <p:cNvPr id="3" name="Footer Placeholder 2">
            <a:extLst>
              <a:ext uri="{FF2B5EF4-FFF2-40B4-BE49-F238E27FC236}">
                <a16:creationId xmlns:a16="http://schemas.microsoft.com/office/drawing/2014/main" id="{7F665AF4-B4CA-136F-FAFB-A29593F0ECE9}"/>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C8DC66D3-2B9D-D5E5-CD91-392238AAC0DB}"/>
              </a:ext>
            </a:extLst>
          </p:cNvPr>
          <p:cNvSpPr>
            <a:spLocks noGrp="1"/>
          </p:cNvSpPr>
          <p:nvPr>
            <p:ph type="sldNum" sz="quarter" idx="12"/>
          </p:nvPr>
        </p:nvSpPr>
        <p:spPr/>
        <p:txBody>
          <a:bodyPr/>
          <a:lstStyle/>
          <a:p>
            <a:fld id="{1AE971F0-0CD2-4C47-8087-EBCE9716EA84}" type="slidenum">
              <a:rPr lang="en-GB" smtClean="0"/>
              <a:pPr/>
              <a:t>7</a:t>
            </a:fld>
            <a:endParaRPr lang="en-GB"/>
          </a:p>
        </p:txBody>
      </p:sp>
      <p:sp>
        <p:nvSpPr>
          <p:cNvPr id="7" name="TextBox 6">
            <a:extLst>
              <a:ext uri="{FF2B5EF4-FFF2-40B4-BE49-F238E27FC236}">
                <a16:creationId xmlns:a16="http://schemas.microsoft.com/office/drawing/2014/main" id="{6D8AF184-CCEF-A619-4C25-5CE52ED81EF7}"/>
              </a:ext>
            </a:extLst>
          </p:cNvPr>
          <p:cNvSpPr txBox="1"/>
          <p:nvPr/>
        </p:nvSpPr>
        <p:spPr>
          <a:xfrm>
            <a:off x="647700" y="2767280"/>
            <a:ext cx="3390900" cy="1323439"/>
          </a:xfrm>
          <a:prstGeom prst="rect">
            <a:avLst/>
          </a:prstGeom>
          <a:noFill/>
        </p:spPr>
        <p:txBody>
          <a:bodyPr wrap="square" rtlCol="0">
            <a:spAutoFit/>
          </a:bodyPr>
          <a:lstStyle/>
          <a:p>
            <a:r>
              <a:rPr lang="en-GB" sz="4000" dirty="0">
                <a:solidFill>
                  <a:srgbClr val="FAFBFC"/>
                </a:solidFill>
              </a:rPr>
              <a:t>Interim </a:t>
            </a:r>
          </a:p>
          <a:p>
            <a:r>
              <a:rPr lang="en-GB" sz="4000" dirty="0">
                <a:solidFill>
                  <a:srgbClr val="FAFBFC"/>
                </a:solidFill>
              </a:rPr>
              <a:t>Rubric</a:t>
            </a:r>
          </a:p>
        </p:txBody>
      </p:sp>
      <p:sp>
        <p:nvSpPr>
          <p:cNvPr id="6" name="TextBox 5">
            <a:extLst>
              <a:ext uri="{FF2B5EF4-FFF2-40B4-BE49-F238E27FC236}">
                <a16:creationId xmlns:a16="http://schemas.microsoft.com/office/drawing/2014/main" id="{30F406A1-881C-033D-CFCA-7088898F1289}"/>
              </a:ext>
            </a:extLst>
          </p:cNvPr>
          <p:cNvSpPr txBox="1"/>
          <p:nvPr/>
        </p:nvSpPr>
        <p:spPr>
          <a:xfrm>
            <a:off x="4756150" y="581442"/>
            <a:ext cx="7226300" cy="6494085"/>
          </a:xfrm>
          <a:prstGeom prst="rect">
            <a:avLst/>
          </a:prstGeom>
          <a:noFill/>
        </p:spPr>
        <p:txBody>
          <a:bodyPr wrap="square">
            <a:spAutoFit/>
          </a:bodyPr>
          <a:lstStyle/>
          <a:p>
            <a:pPr marL="457200" indent="-457200">
              <a:buFont typeface="Arial" panose="020B0604020202020204" pitchFamily="34" charset="0"/>
              <a:buChar char="•"/>
            </a:pPr>
            <a:r>
              <a:rPr lang="en-GB" sz="3200" dirty="0"/>
              <a:t>Available in Brightspace</a:t>
            </a:r>
          </a:p>
          <a:p>
            <a:pPr marL="457200" indent="-457200">
              <a:buFont typeface="Arial" panose="020B0604020202020204" pitchFamily="34" charset="0"/>
              <a:buChar char="•"/>
            </a:pPr>
            <a:endParaRPr lang="en-GB" sz="3200" dirty="0"/>
          </a:p>
          <a:p>
            <a:pPr marL="457200" indent="-457200">
              <a:buFont typeface="Arial" panose="020B0604020202020204" pitchFamily="34" charset="0"/>
              <a:buChar char="•"/>
            </a:pPr>
            <a:r>
              <a:rPr lang="en-GB" sz="3200" i="1" dirty="0"/>
              <a:t>Very important</a:t>
            </a:r>
            <a:r>
              <a:rPr lang="en-GB" sz="3200" dirty="0"/>
              <a:t> to read this before you submit</a:t>
            </a:r>
          </a:p>
          <a:p>
            <a:pPr marL="457200" indent="-457200">
              <a:buFont typeface="Arial" panose="020B0604020202020204" pitchFamily="34" charset="0"/>
              <a:buChar char="•"/>
            </a:pPr>
            <a:endParaRPr lang="en-GB" sz="3200" i="1" dirty="0"/>
          </a:p>
          <a:p>
            <a:pPr marL="457200" indent="-457200">
              <a:buFont typeface="Arial" panose="020B0604020202020204" pitchFamily="34" charset="0"/>
              <a:buChar char="•"/>
            </a:pPr>
            <a:r>
              <a:rPr lang="en-GB" sz="3200" dirty="0"/>
              <a:t>Focus on Presentation skills</a:t>
            </a:r>
          </a:p>
          <a:p>
            <a:pPr marL="457200" indent="-457200">
              <a:buFont typeface="Arial" panose="020B0604020202020204" pitchFamily="34" charset="0"/>
              <a:buChar char="•"/>
            </a:pPr>
            <a:endParaRPr lang="en-GB" sz="3200" dirty="0"/>
          </a:p>
          <a:p>
            <a:pPr marL="457200" indent="-457200">
              <a:buFont typeface="Arial" panose="020B0604020202020204" pitchFamily="34" charset="0"/>
              <a:buChar char="•"/>
            </a:pPr>
            <a:r>
              <a:rPr lang="en-GB" sz="3200" dirty="0"/>
              <a:t>Remember that this is your chance to showcase your work </a:t>
            </a:r>
          </a:p>
          <a:p>
            <a:pPr marL="457200" indent="-457200">
              <a:buFont typeface="Arial" panose="020B0604020202020204" pitchFamily="34" charset="0"/>
              <a:buChar char="•"/>
            </a:pPr>
            <a:endParaRPr lang="en-GB" sz="3200" dirty="0"/>
          </a:p>
          <a:p>
            <a:pPr marL="457200" indent="-457200">
              <a:buFont typeface="Arial" panose="020B0604020202020204" pitchFamily="34" charset="0"/>
              <a:buChar char="•"/>
            </a:pPr>
            <a:r>
              <a:rPr lang="en-GB" sz="3200" dirty="0"/>
              <a:t>highlight any strengths of your project (research, design etc.)</a:t>
            </a:r>
          </a:p>
          <a:p>
            <a:pPr marL="457200" indent="-457200">
              <a:buFont typeface="Arial" panose="020B0604020202020204" pitchFamily="34" charset="0"/>
              <a:buChar char="•"/>
            </a:pPr>
            <a:endParaRPr lang="en-GB" sz="3200" dirty="0"/>
          </a:p>
        </p:txBody>
      </p:sp>
    </p:spTree>
    <p:extLst>
      <p:ext uri="{BB962C8B-B14F-4D97-AF65-F5344CB8AC3E}">
        <p14:creationId xmlns:p14="http://schemas.microsoft.com/office/powerpoint/2010/main" val="3072450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FFE76-5CA2-E534-D80E-2714474E587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31E527B-1F06-784B-C5D0-FCFD04C68515}"/>
              </a:ext>
            </a:extLst>
          </p:cNvPr>
          <p:cNvSpPr>
            <a:spLocks noGrp="1"/>
          </p:cNvSpPr>
          <p:nvPr>
            <p:ph type="dt" sz="half" idx="10"/>
          </p:nvPr>
        </p:nvSpPr>
        <p:spPr/>
        <p:txBody>
          <a:bodyPr/>
          <a:lstStyle/>
          <a:p>
            <a:fld id="{C539BAFE-1C58-4281-B660-E6D6B17C58DE}" type="datetime1">
              <a:rPr lang="en-GB" smtClean="0"/>
              <a:t>24/11/2025</a:t>
            </a:fld>
            <a:endParaRPr lang="en-GB"/>
          </a:p>
        </p:txBody>
      </p:sp>
      <p:sp>
        <p:nvSpPr>
          <p:cNvPr id="3" name="Footer Placeholder 2">
            <a:extLst>
              <a:ext uri="{FF2B5EF4-FFF2-40B4-BE49-F238E27FC236}">
                <a16:creationId xmlns:a16="http://schemas.microsoft.com/office/drawing/2014/main" id="{DF1B97A8-5E12-DC7B-836B-6430B55938AA}"/>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9A2D70E9-6197-5D38-A623-3D866EF141E2}"/>
              </a:ext>
            </a:extLst>
          </p:cNvPr>
          <p:cNvSpPr>
            <a:spLocks noGrp="1"/>
          </p:cNvSpPr>
          <p:nvPr>
            <p:ph type="sldNum" sz="quarter" idx="12"/>
          </p:nvPr>
        </p:nvSpPr>
        <p:spPr/>
        <p:txBody>
          <a:bodyPr/>
          <a:lstStyle/>
          <a:p>
            <a:fld id="{1AE971F0-0CD2-4C47-8087-EBCE9716EA84}" type="slidenum">
              <a:rPr lang="en-GB" smtClean="0"/>
              <a:pPr/>
              <a:t>8</a:t>
            </a:fld>
            <a:endParaRPr lang="en-GB"/>
          </a:p>
        </p:txBody>
      </p:sp>
      <p:sp>
        <p:nvSpPr>
          <p:cNvPr id="5" name="TextBox 4">
            <a:extLst>
              <a:ext uri="{FF2B5EF4-FFF2-40B4-BE49-F238E27FC236}">
                <a16:creationId xmlns:a16="http://schemas.microsoft.com/office/drawing/2014/main" id="{F072312B-08BF-8836-6F02-6CAE34C9638D}"/>
              </a:ext>
            </a:extLst>
          </p:cNvPr>
          <p:cNvSpPr txBox="1"/>
          <p:nvPr/>
        </p:nvSpPr>
        <p:spPr>
          <a:xfrm>
            <a:off x="152400" y="2654161"/>
            <a:ext cx="4114799" cy="1754326"/>
          </a:xfrm>
          <a:prstGeom prst="rect">
            <a:avLst/>
          </a:prstGeom>
          <a:noFill/>
        </p:spPr>
        <p:txBody>
          <a:bodyPr wrap="square" rtlCol="0">
            <a:spAutoFit/>
          </a:bodyPr>
          <a:lstStyle/>
          <a:p>
            <a:r>
              <a:rPr lang="en-GB" sz="3600" dirty="0">
                <a:solidFill>
                  <a:srgbClr val="FAFBFC"/>
                </a:solidFill>
              </a:rPr>
              <a:t>Oral Communication: 60 - 69</a:t>
            </a:r>
          </a:p>
        </p:txBody>
      </p:sp>
      <p:sp>
        <p:nvSpPr>
          <p:cNvPr id="6" name="TextBox 5">
            <a:extLst>
              <a:ext uri="{FF2B5EF4-FFF2-40B4-BE49-F238E27FC236}">
                <a16:creationId xmlns:a16="http://schemas.microsoft.com/office/drawing/2014/main" id="{F43BB49E-38D4-9F36-8810-A8944FDDE075}"/>
              </a:ext>
            </a:extLst>
          </p:cNvPr>
          <p:cNvSpPr txBox="1"/>
          <p:nvPr/>
        </p:nvSpPr>
        <p:spPr>
          <a:xfrm>
            <a:off x="4559300" y="530503"/>
            <a:ext cx="7188200" cy="4893647"/>
          </a:xfrm>
          <a:prstGeom prst="rect">
            <a:avLst/>
          </a:prstGeom>
          <a:noFill/>
        </p:spPr>
        <p:txBody>
          <a:bodyPr wrap="square" rtlCol="0">
            <a:spAutoFit/>
          </a:bodyPr>
          <a:lstStyle/>
          <a:p>
            <a:pPr marL="285750" indent="-285750" algn="l" rtl="0">
              <a:buFont typeface="Arial" panose="020B0604020202020204" pitchFamily="34" charset="0"/>
              <a:buChar char="•"/>
            </a:pPr>
            <a:r>
              <a:rPr lang="en-GB" sz="2400" dirty="0"/>
              <a:t>The student presents </a:t>
            </a:r>
            <a:r>
              <a:rPr lang="en-GB" sz="2400" b="1" dirty="0"/>
              <a:t>clearly</a:t>
            </a:r>
          </a:p>
          <a:p>
            <a:pPr marL="285750" indent="-285750" algn="l" rtl="0">
              <a:buFont typeface="Arial" panose="020B0604020202020204" pitchFamily="34" charset="0"/>
              <a:buChar char="•"/>
            </a:pPr>
            <a:endParaRPr lang="en-GB" sz="2400" dirty="0"/>
          </a:p>
          <a:p>
            <a:pPr marL="285750" indent="-285750" algn="l" rtl="0">
              <a:buFont typeface="Arial" panose="020B0604020202020204" pitchFamily="34" charset="0"/>
              <a:buChar char="•"/>
            </a:pPr>
            <a:r>
              <a:rPr lang="en-GB" sz="2400" dirty="0"/>
              <a:t>Content is </a:t>
            </a:r>
            <a:r>
              <a:rPr lang="en-GB" sz="2400" b="1" dirty="0"/>
              <a:t>well-organised</a:t>
            </a:r>
            <a:r>
              <a:rPr lang="en-GB" sz="2400" dirty="0"/>
              <a:t> and </a:t>
            </a:r>
            <a:r>
              <a:rPr lang="en-GB" sz="2400" b="1" dirty="0"/>
              <a:t>addresses key points</a:t>
            </a:r>
          </a:p>
          <a:p>
            <a:pPr marL="285750" indent="-285750" algn="l" rtl="0">
              <a:buFont typeface="Arial" panose="020B0604020202020204" pitchFamily="34" charset="0"/>
              <a:buChar char="•"/>
            </a:pPr>
            <a:endParaRPr lang="en-GB" sz="2400" dirty="0"/>
          </a:p>
          <a:p>
            <a:pPr marL="285750" indent="-285750" algn="l" rtl="0">
              <a:buFont typeface="Arial" panose="020B0604020202020204" pitchFamily="34" charset="0"/>
              <a:buChar char="•"/>
            </a:pPr>
            <a:r>
              <a:rPr lang="en-GB" sz="2400" dirty="0"/>
              <a:t>Appropriate use of slides and </a:t>
            </a:r>
            <a:r>
              <a:rPr lang="en-GB" sz="2400" b="1" dirty="0"/>
              <a:t>diagrams</a:t>
            </a:r>
            <a:r>
              <a:rPr lang="en-GB" sz="2400" dirty="0"/>
              <a:t> throughout</a:t>
            </a:r>
          </a:p>
          <a:p>
            <a:pPr algn="l" rtl="0"/>
            <a:endParaRPr lang="en-GB" sz="2400" dirty="0"/>
          </a:p>
          <a:p>
            <a:pPr marL="285750" indent="-285750" algn="l" rtl="0">
              <a:buFont typeface="Arial" panose="020B0604020202020204" pitchFamily="34" charset="0"/>
              <a:buChar char="•"/>
            </a:pPr>
            <a:r>
              <a:rPr lang="en-GB" sz="2400" dirty="0"/>
              <a:t>The student shows evidence of </a:t>
            </a:r>
            <a:r>
              <a:rPr lang="en-GB" sz="2400" b="1" dirty="0"/>
              <a:t>effective time management</a:t>
            </a:r>
            <a:r>
              <a:rPr lang="en-GB" sz="2400" dirty="0"/>
              <a:t> throughout the presentation</a:t>
            </a:r>
          </a:p>
          <a:p>
            <a:pPr marL="285750" indent="-285750" algn="l" rtl="0">
              <a:buFont typeface="Arial" panose="020B0604020202020204" pitchFamily="34" charset="0"/>
              <a:buChar char="•"/>
            </a:pPr>
            <a:endParaRPr lang="en-GB" sz="2400" dirty="0"/>
          </a:p>
          <a:p>
            <a:pPr marL="285750" indent="-285750" algn="l" rtl="0">
              <a:buFont typeface="Arial" panose="020B0604020202020204" pitchFamily="34" charset="0"/>
              <a:buChar char="•"/>
            </a:pPr>
            <a:r>
              <a:rPr lang="en-GB" sz="2400" dirty="0"/>
              <a:t>The student demonstrates some ability to </a:t>
            </a:r>
            <a:r>
              <a:rPr lang="en-GB" sz="2400" b="1" dirty="0"/>
              <a:t>engage with questions</a:t>
            </a:r>
          </a:p>
        </p:txBody>
      </p:sp>
    </p:spTree>
    <p:extLst>
      <p:ext uri="{BB962C8B-B14F-4D97-AF65-F5344CB8AC3E}">
        <p14:creationId xmlns:p14="http://schemas.microsoft.com/office/powerpoint/2010/main" val="1122327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7CE727-787B-656B-A72C-7EFF53E3123C}"/>
              </a:ext>
            </a:extLst>
          </p:cNvPr>
          <p:cNvSpPr>
            <a:spLocks noGrp="1"/>
          </p:cNvSpPr>
          <p:nvPr>
            <p:ph type="dt" sz="half" idx="10"/>
          </p:nvPr>
        </p:nvSpPr>
        <p:spPr/>
        <p:txBody>
          <a:bodyPr/>
          <a:lstStyle/>
          <a:p>
            <a:fld id="{C539BAFE-1C58-4281-B660-E6D6B17C58DE}" type="datetime1">
              <a:rPr lang="en-GB" smtClean="0"/>
              <a:t>24/11/2025</a:t>
            </a:fld>
            <a:endParaRPr lang="en-GB"/>
          </a:p>
        </p:txBody>
      </p:sp>
      <p:sp>
        <p:nvSpPr>
          <p:cNvPr id="3" name="Footer Placeholder 2">
            <a:extLst>
              <a:ext uri="{FF2B5EF4-FFF2-40B4-BE49-F238E27FC236}">
                <a16:creationId xmlns:a16="http://schemas.microsoft.com/office/drawing/2014/main" id="{58F4D800-B54D-3985-3E2A-E4B2E86137A3}"/>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99D51619-E2E2-8F78-E4C9-BAA7C27B4E61}"/>
              </a:ext>
            </a:extLst>
          </p:cNvPr>
          <p:cNvSpPr>
            <a:spLocks noGrp="1"/>
          </p:cNvSpPr>
          <p:nvPr>
            <p:ph type="sldNum" sz="quarter" idx="12"/>
          </p:nvPr>
        </p:nvSpPr>
        <p:spPr/>
        <p:txBody>
          <a:bodyPr/>
          <a:lstStyle/>
          <a:p>
            <a:fld id="{1AE971F0-0CD2-4C47-8087-EBCE9716EA84}" type="slidenum">
              <a:rPr lang="en-GB" smtClean="0"/>
              <a:pPr/>
              <a:t>9</a:t>
            </a:fld>
            <a:endParaRPr lang="en-GB"/>
          </a:p>
        </p:txBody>
      </p:sp>
      <p:sp>
        <p:nvSpPr>
          <p:cNvPr id="5" name="TextBox 4">
            <a:extLst>
              <a:ext uri="{FF2B5EF4-FFF2-40B4-BE49-F238E27FC236}">
                <a16:creationId xmlns:a16="http://schemas.microsoft.com/office/drawing/2014/main" id="{50D0A847-C22A-FE09-105B-63762E59B89A}"/>
              </a:ext>
            </a:extLst>
          </p:cNvPr>
          <p:cNvSpPr txBox="1"/>
          <p:nvPr/>
        </p:nvSpPr>
        <p:spPr>
          <a:xfrm>
            <a:off x="152400" y="2654161"/>
            <a:ext cx="4114799" cy="1754326"/>
          </a:xfrm>
          <a:prstGeom prst="rect">
            <a:avLst/>
          </a:prstGeom>
          <a:noFill/>
        </p:spPr>
        <p:txBody>
          <a:bodyPr wrap="square" rtlCol="0">
            <a:spAutoFit/>
          </a:bodyPr>
          <a:lstStyle/>
          <a:p>
            <a:r>
              <a:rPr lang="en-GB" sz="3600" dirty="0">
                <a:solidFill>
                  <a:srgbClr val="FAFBFC"/>
                </a:solidFill>
              </a:rPr>
              <a:t>Oral Communication: 70 - 79</a:t>
            </a:r>
          </a:p>
        </p:txBody>
      </p:sp>
      <p:sp>
        <p:nvSpPr>
          <p:cNvPr id="6" name="TextBox 5">
            <a:extLst>
              <a:ext uri="{FF2B5EF4-FFF2-40B4-BE49-F238E27FC236}">
                <a16:creationId xmlns:a16="http://schemas.microsoft.com/office/drawing/2014/main" id="{26765431-3D88-2C10-AFE6-14950BF6F546}"/>
              </a:ext>
            </a:extLst>
          </p:cNvPr>
          <p:cNvSpPr txBox="1"/>
          <p:nvPr/>
        </p:nvSpPr>
        <p:spPr>
          <a:xfrm>
            <a:off x="4559300" y="530503"/>
            <a:ext cx="7188200" cy="6001643"/>
          </a:xfrm>
          <a:prstGeom prst="rect">
            <a:avLst/>
          </a:prstGeom>
          <a:noFill/>
        </p:spPr>
        <p:txBody>
          <a:bodyPr wrap="square" rtlCol="0">
            <a:spAutoFit/>
          </a:bodyPr>
          <a:lstStyle/>
          <a:p>
            <a:pPr marL="285750" indent="-285750" algn="l" rtl="0">
              <a:buFont typeface="Arial" panose="020B0604020202020204" pitchFamily="34" charset="0"/>
              <a:buChar char="•"/>
            </a:pPr>
            <a:r>
              <a:rPr lang="en-GB" sz="2400" dirty="0"/>
              <a:t>The student presents clearly, </a:t>
            </a:r>
            <a:r>
              <a:rPr lang="en-GB" sz="2400" b="1" dirty="0"/>
              <a:t>engagingly</a:t>
            </a:r>
            <a:r>
              <a:rPr lang="en-GB" sz="2400" dirty="0"/>
              <a:t> and </a:t>
            </a:r>
            <a:r>
              <a:rPr lang="en-GB" sz="2400" b="1" dirty="0"/>
              <a:t>professionally</a:t>
            </a:r>
          </a:p>
          <a:p>
            <a:pPr marL="285750" indent="-285750" algn="l" rtl="0">
              <a:buFont typeface="Arial" panose="020B0604020202020204" pitchFamily="34" charset="0"/>
              <a:buChar char="•"/>
            </a:pPr>
            <a:endParaRPr lang="en-GB" sz="2400" dirty="0"/>
          </a:p>
          <a:p>
            <a:pPr marL="285750" indent="-285750" algn="l" rtl="0">
              <a:buFont typeface="Arial" panose="020B0604020202020204" pitchFamily="34" charset="0"/>
              <a:buChar char="•"/>
            </a:pPr>
            <a:r>
              <a:rPr lang="en-GB" sz="2400" dirty="0"/>
              <a:t>Content is </a:t>
            </a:r>
            <a:r>
              <a:rPr lang="en-GB" sz="2400" b="1" dirty="0"/>
              <a:t>comprehensive</a:t>
            </a:r>
            <a:r>
              <a:rPr lang="en-GB" sz="2400" dirty="0"/>
              <a:t>, well-organised and addresses key points</a:t>
            </a:r>
          </a:p>
          <a:p>
            <a:pPr marL="285750" indent="-285750" algn="l" rtl="0">
              <a:buFont typeface="Arial" panose="020B0604020202020204" pitchFamily="34" charset="0"/>
              <a:buChar char="•"/>
            </a:pPr>
            <a:endParaRPr lang="en-GB" sz="2400" dirty="0"/>
          </a:p>
          <a:p>
            <a:pPr marL="285750" indent="-285750" algn="l" rtl="0">
              <a:buFont typeface="Arial" panose="020B0604020202020204" pitchFamily="34" charset="0"/>
              <a:buChar char="•"/>
            </a:pPr>
            <a:r>
              <a:rPr lang="en-GB" sz="2400" b="1" dirty="0"/>
              <a:t>Excellent</a:t>
            </a:r>
            <a:r>
              <a:rPr lang="en-GB" sz="2400" dirty="0"/>
              <a:t> use of slides and </a:t>
            </a:r>
            <a:r>
              <a:rPr lang="en-GB" sz="2400" b="1" dirty="0"/>
              <a:t>diagrams</a:t>
            </a:r>
            <a:r>
              <a:rPr lang="en-GB" sz="2400" dirty="0"/>
              <a:t> throughout</a:t>
            </a:r>
          </a:p>
          <a:p>
            <a:pPr marL="285750" indent="-285750" algn="l" rtl="0">
              <a:buFont typeface="Arial" panose="020B0604020202020204" pitchFamily="34" charset="0"/>
              <a:buChar char="•"/>
            </a:pPr>
            <a:endParaRPr lang="en-GB" sz="2400" dirty="0"/>
          </a:p>
          <a:p>
            <a:pPr marL="285750" indent="-285750" algn="l" rtl="0">
              <a:buFont typeface="Arial" panose="020B0604020202020204" pitchFamily="34" charset="0"/>
              <a:buChar char="•"/>
            </a:pPr>
            <a:r>
              <a:rPr lang="en-GB" sz="2400" b="1" dirty="0"/>
              <a:t>Body language and gestures enhance the presentation.</a:t>
            </a:r>
          </a:p>
          <a:p>
            <a:pPr marL="285750" indent="-285750" algn="l" rtl="0">
              <a:buFont typeface="Arial" panose="020B0604020202020204" pitchFamily="34" charset="0"/>
              <a:buChar char="•"/>
            </a:pPr>
            <a:endParaRPr lang="en-GB" sz="2400" dirty="0"/>
          </a:p>
          <a:p>
            <a:pPr marL="285750" indent="-285750" algn="l" rtl="0">
              <a:buFont typeface="Arial" panose="020B0604020202020204" pitchFamily="34" charset="0"/>
              <a:buChar char="•"/>
            </a:pPr>
            <a:r>
              <a:rPr lang="en-GB" sz="2400" dirty="0"/>
              <a:t>The student shows evidence of </a:t>
            </a:r>
            <a:r>
              <a:rPr lang="en-GB" sz="2400" b="1" dirty="0"/>
              <a:t>effective time management</a:t>
            </a:r>
            <a:r>
              <a:rPr lang="en-GB" sz="2400" dirty="0"/>
              <a:t> throughout the presentation</a:t>
            </a:r>
          </a:p>
          <a:p>
            <a:pPr marL="285750" indent="-285750" algn="l" rtl="0">
              <a:buFont typeface="Arial" panose="020B0604020202020204" pitchFamily="34" charset="0"/>
              <a:buChar char="•"/>
            </a:pPr>
            <a:endParaRPr lang="en-GB" sz="2400" dirty="0"/>
          </a:p>
          <a:p>
            <a:pPr marL="285750" indent="-285750" algn="l" rtl="0">
              <a:buFont typeface="Arial" panose="020B0604020202020204" pitchFamily="34" charset="0"/>
              <a:buChar char="•"/>
            </a:pPr>
            <a:r>
              <a:rPr lang="en-GB" sz="2400" dirty="0"/>
              <a:t>The student engages effectively and </a:t>
            </a:r>
            <a:r>
              <a:rPr lang="en-GB" sz="2400" b="1" dirty="0"/>
              <a:t>thoughtfully</a:t>
            </a:r>
            <a:r>
              <a:rPr lang="en-GB" sz="2400" dirty="0"/>
              <a:t> with questions</a:t>
            </a:r>
          </a:p>
        </p:txBody>
      </p:sp>
    </p:spTree>
    <p:extLst>
      <p:ext uri="{BB962C8B-B14F-4D97-AF65-F5344CB8AC3E}">
        <p14:creationId xmlns:p14="http://schemas.microsoft.com/office/powerpoint/2010/main" val="2276600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198A9-FCC3-4E60-882A-5A5D0B8736D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5E3C52A-3AB7-522D-342E-42DA00AB8CB6}"/>
              </a:ext>
            </a:extLst>
          </p:cNvPr>
          <p:cNvSpPr>
            <a:spLocks noGrp="1"/>
          </p:cNvSpPr>
          <p:nvPr>
            <p:ph type="dt" sz="half" idx="10"/>
          </p:nvPr>
        </p:nvSpPr>
        <p:spPr/>
        <p:txBody>
          <a:bodyPr/>
          <a:lstStyle/>
          <a:p>
            <a:fld id="{C539BAFE-1C58-4281-B660-E6D6B17C58DE}" type="datetime1">
              <a:rPr lang="en-GB" smtClean="0"/>
              <a:t>24/11/2025</a:t>
            </a:fld>
            <a:endParaRPr lang="en-GB"/>
          </a:p>
        </p:txBody>
      </p:sp>
      <p:sp>
        <p:nvSpPr>
          <p:cNvPr id="3" name="Footer Placeholder 2">
            <a:extLst>
              <a:ext uri="{FF2B5EF4-FFF2-40B4-BE49-F238E27FC236}">
                <a16:creationId xmlns:a16="http://schemas.microsoft.com/office/drawing/2014/main" id="{D8EAE6CF-DFD5-CAA7-A6C6-D7D5C2186665}"/>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5FB3612A-5C2D-4F46-6F89-698A995207F0}"/>
              </a:ext>
            </a:extLst>
          </p:cNvPr>
          <p:cNvSpPr>
            <a:spLocks noGrp="1"/>
          </p:cNvSpPr>
          <p:nvPr>
            <p:ph type="sldNum" sz="quarter" idx="12"/>
          </p:nvPr>
        </p:nvSpPr>
        <p:spPr/>
        <p:txBody>
          <a:bodyPr/>
          <a:lstStyle/>
          <a:p>
            <a:fld id="{1AE971F0-0CD2-4C47-8087-EBCE9716EA84}" type="slidenum">
              <a:rPr lang="en-GB" smtClean="0"/>
              <a:pPr/>
              <a:t>10</a:t>
            </a:fld>
            <a:endParaRPr lang="en-GB"/>
          </a:p>
        </p:txBody>
      </p:sp>
      <p:sp>
        <p:nvSpPr>
          <p:cNvPr id="5" name="TextBox 4">
            <a:extLst>
              <a:ext uri="{FF2B5EF4-FFF2-40B4-BE49-F238E27FC236}">
                <a16:creationId xmlns:a16="http://schemas.microsoft.com/office/drawing/2014/main" id="{30828A3D-01E4-7300-43D2-F05F34AB2B10}"/>
              </a:ext>
            </a:extLst>
          </p:cNvPr>
          <p:cNvSpPr txBox="1"/>
          <p:nvPr/>
        </p:nvSpPr>
        <p:spPr>
          <a:xfrm>
            <a:off x="152400" y="2654161"/>
            <a:ext cx="4114799" cy="1200329"/>
          </a:xfrm>
          <a:prstGeom prst="rect">
            <a:avLst/>
          </a:prstGeom>
          <a:noFill/>
        </p:spPr>
        <p:txBody>
          <a:bodyPr wrap="square" rtlCol="0">
            <a:spAutoFit/>
          </a:bodyPr>
          <a:lstStyle/>
          <a:p>
            <a:r>
              <a:rPr lang="en-GB" sz="3600" dirty="0">
                <a:solidFill>
                  <a:srgbClr val="FAFBFC"/>
                </a:solidFill>
              </a:rPr>
              <a:t>Demo: </a:t>
            </a:r>
          </a:p>
          <a:p>
            <a:r>
              <a:rPr lang="en-GB" sz="3600" dirty="0">
                <a:solidFill>
                  <a:srgbClr val="FAFBFC"/>
                </a:solidFill>
              </a:rPr>
              <a:t>60 - 69</a:t>
            </a:r>
          </a:p>
        </p:txBody>
      </p:sp>
      <p:sp>
        <p:nvSpPr>
          <p:cNvPr id="6" name="TextBox 5">
            <a:extLst>
              <a:ext uri="{FF2B5EF4-FFF2-40B4-BE49-F238E27FC236}">
                <a16:creationId xmlns:a16="http://schemas.microsoft.com/office/drawing/2014/main" id="{47E3FD77-07EC-CEDC-A774-806F79754C2B}"/>
              </a:ext>
            </a:extLst>
          </p:cNvPr>
          <p:cNvSpPr txBox="1"/>
          <p:nvPr/>
        </p:nvSpPr>
        <p:spPr>
          <a:xfrm>
            <a:off x="4559300" y="2459504"/>
            <a:ext cx="7188200" cy="1938992"/>
          </a:xfrm>
          <a:prstGeom prst="rect">
            <a:avLst/>
          </a:prstGeom>
          <a:noFill/>
        </p:spPr>
        <p:txBody>
          <a:bodyPr wrap="square" rtlCol="0">
            <a:spAutoFit/>
          </a:bodyPr>
          <a:lstStyle/>
          <a:p>
            <a:pPr marL="285750" indent="-285750" algn="l" rtl="0">
              <a:buFont typeface="Arial" panose="020B0604020202020204" pitchFamily="34" charset="0"/>
              <a:buChar char="•"/>
            </a:pPr>
            <a:r>
              <a:rPr lang="en-GB" sz="2400" dirty="0"/>
              <a:t>The demonstration shows evidence of </a:t>
            </a:r>
            <a:r>
              <a:rPr lang="en-GB" sz="2400" b="1" dirty="0"/>
              <a:t>effective planning and rehearsal</a:t>
            </a:r>
          </a:p>
          <a:p>
            <a:pPr marL="285750" indent="-285750" algn="l" rtl="0">
              <a:buFont typeface="Arial" panose="020B0604020202020204" pitchFamily="34" charset="0"/>
              <a:buChar char="•"/>
            </a:pPr>
            <a:endParaRPr lang="en-GB" sz="2400" dirty="0"/>
          </a:p>
          <a:p>
            <a:pPr marL="285750" indent="-285750" algn="l" rtl="0">
              <a:buFont typeface="Arial" panose="020B0604020202020204" pitchFamily="34" charset="0"/>
              <a:buChar char="•"/>
            </a:pPr>
            <a:r>
              <a:rPr lang="en-GB" sz="2400" dirty="0"/>
              <a:t>The demonstration effectively conveys the </a:t>
            </a:r>
            <a:r>
              <a:rPr lang="en-GB" sz="2400" b="1" dirty="0"/>
              <a:t>purpose and functioning </a:t>
            </a:r>
            <a:r>
              <a:rPr lang="en-GB" sz="2400" dirty="0"/>
              <a:t>of the project</a:t>
            </a:r>
          </a:p>
        </p:txBody>
      </p:sp>
    </p:spTree>
    <p:extLst>
      <p:ext uri="{BB962C8B-B14F-4D97-AF65-F5344CB8AC3E}">
        <p14:creationId xmlns:p14="http://schemas.microsoft.com/office/powerpoint/2010/main" val="2050260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AF8D0-6BA1-CBF9-F350-66D7AA9FBCE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AF035D6-C6CE-10BC-2382-D8D8B1EACF84}"/>
              </a:ext>
            </a:extLst>
          </p:cNvPr>
          <p:cNvSpPr>
            <a:spLocks noGrp="1"/>
          </p:cNvSpPr>
          <p:nvPr>
            <p:ph type="dt" sz="half" idx="10"/>
          </p:nvPr>
        </p:nvSpPr>
        <p:spPr/>
        <p:txBody>
          <a:bodyPr/>
          <a:lstStyle/>
          <a:p>
            <a:fld id="{C539BAFE-1C58-4281-B660-E6D6B17C58DE}" type="datetime1">
              <a:rPr lang="en-GB" smtClean="0"/>
              <a:t>24/11/2025</a:t>
            </a:fld>
            <a:endParaRPr lang="en-GB"/>
          </a:p>
        </p:txBody>
      </p:sp>
      <p:sp>
        <p:nvSpPr>
          <p:cNvPr id="3" name="Footer Placeholder 2">
            <a:extLst>
              <a:ext uri="{FF2B5EF4-FFF2-40B4-BE49-F238E27FC236}">
                <a16:creationId xmlns:a16="http://schemas.microsoft.com/office/drawing/2014/main" id="{B1D87DBD-FE24-91F4-B501-983525410451}"/>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987F0FD7-2F4D-2F77-E20E-CB767B7A71B1}"/>
              </a:ext>
            </a:extLst>
          </p:cNvPr>
          <p:cNvSpPr>
            <a:spLocks noGrp="1"/>
          </p:cNvSpPr>
          <p:nvPr>
            <p:ph type="sldNum" sz="quarter" idx="12"/>
          </p:nvPr>
        </p:nvSpPr>
        <p:spPr/>
        <p:txBody>
          <a:bodyPr/>
          <a:lstStyle/>
          <a:p>
            <a:fld id="{1AE971F0-0CD2-4C47-8087-EBCE9716EA84}" type="slidenum">
              <a:rPr lang="en-GB" smtClean="0"/>
              <a:pPr/>
              <a:t>11</a:t>
            </a:fld>
            <a:endParaRPr lang="en-GB"/>
          </a:p>
        </p:txBody>
      </p:sp>
      <p:sp>
        <p:nvSpPr>
          <p:cNvPr id="5" name="TextBox 4">
            <a:extLst>
              <a:ext uri="{FF2B5EF4-FFF2-40B4-BE49-F238E27FC236}">
                <a16:creationId xmlns:a16="http://schemas.microsoft.com/office/drawing/2014/main" id="{923B5CFC-07F5-C941-CB9D-AA1341431F5D}"/>
              </a:ext>
            </a:extLst>
          </p:cNvPr>
          <p:cNvSpPr txBox="1"/>
          <p:nvPr/>
        </p:nvSpPr>
        <p:spPr>
          <a:xfrm>
            <a:off x="152400" y="2654161"/>
            <a:ext cx="4114799" cy="1200329"/>
          </a:xfrm>
          <a:prstGeom prst="rect">
            <a:avLst/>
          </a:prstGeom>
          <a:noFill/>
        </p:spPr>
        <p:txBody>
          <a:bodyPr wrap="square" rtlCol="0">
            <a:spAutoFit/>
          </a:bodyPr>
          <a:lstStyle/>
          <a:p>
            <a:r>
              <a:rPr lang="en-GB" sz="3600" dirty="0">
                <a:solidFill>
                  <a:srgbClr val="FAFBFC"/>
                </a:solidFill>
              </a:rPr>
              <a:t>Demo: </a:t>
            </a:r>
          </a:p>
          <a:p>
            <a:r>
              <a:rPr lang="en-GB" sz="3600" dirty="0">
                <a:solidFill>
                  <a:srgbClr val="FAFBFC"/>
                </a:solidFill>
              </a:rPr>
              <a:t>70 - 79</a:t>
            </a:r>
          </a:p>
        </p:txBody>
      </p:sp>
      <p:sp>
        <p:nvSpPr>
          <p:cNvPr id="6" name="TextBox 5">
            <a:extLst>
              <a:ext uri="{FF2B5EF4-FFF2-40B4-BE49-F238E27FC236}">
                <a16:creationId xmlns:a16="http://schemas.microsoft.com/office/drawing/2014/main" id="{E17B4696-686D-238C-089C-635CDD4B9D7E}"/>
              </a:ext>
            </a:extLst>
          </p:cNvPr>
          <p:cNvSpPr txBox="1"/>
          <p:nvPr/>
        </p:nvSpPr>
        <p:spPr>
          <a:xfrm>
            <a:off x="4559300" y="2459504"/>
            <a:ext cx="7188200" cy="1938992"/>
          </a:xfrm>
          <a:prstGeom prst="rect">
            <a:avLst/>
          </a:prstGeom>
          <a:noFill/>
        </p:spPr>
        <p:txBody>
          <a:bodyPr wrap="square" rtlCol="0">
            <a:spAutoFit/>
          </a:bodyPr>
          <a:lstStyle/>
          <a:p>
            <a:pPr marL="285750" indent="-285750" algn="l" rtl="0">
              <a:buFont typeface="Arial" panose="020B0604020202020204" pitchFamily="34" charset="0"/>
              <a:buChar char="•"/>
            </a:pPr>
            <a:r>
              <a:rPr lang="en-GB" sz="2400" dirty="0"/>
              <a:t>The demonstration shows evidence of effective planning and rehearsal</a:t>
            </a:r>
          </a:p>
          <a:p>
            <a:pPr marL="285750" indent="-285750" algn="l" rtl="0">
              <a:buFont typeface="Arial" panose="020B0604020202020204" pitchFamily="34" charset="0"/>
              <a:buChar char="•"/>
            </a:pPr>
            <a:endParaRPr lang="en-GB" sz="2400" dirty="0"/>
          </a:p>
          <a:p>
            <a:pPr marL="285750" indent="-285750" algn="l" rtl="0">
              <a:buFont typeface="Arial" panose="020B0604020202020204" pitchFamily="34" charset="0"/>
              <a:buChar char="•"/>
            </a:pPr>
            <a:r>
              <a:rPr lang="en-GB" sz="2400" dirty="0"/>
              <a:t>The demonstration effectively demonstrates the </a:t>
            </a:r>
            <a:r>
              <a:rPr lang="en-GB" sz="2400" b="1" dirty="0"/>
              <a:t>unique / important </a:t>
            </a:r>
            <a:r>
              <a:rPr lang="en-GB" sz="2400" dirty="0"/>
              <a:t>aspects of the project</a:t>
            </a:r>
          </a:p>
        </p:txBody>
      </p:sp>
    </p:spTree>
    <p:extLst>
      <p:ext uri="{BB962C8B-B14F-4D97-AF65-F5344CB8AC3E}">
        <p14:creationId xmlns:p14="http://schemas.microsoft.com/office/powerpoint/2010/main" val="2913417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0BCCCF-B1FF-0F63-262F-34F4F7C95F55}"/>
              </a:ext>
            </a:extLst>
          </p:cNvPr>
          <p:cNvSpPr>
            <a:spLocks noGrp="1"/>
          </p:cNvSpPr>
          <p:nvPr>
            <p:ph type="dt" sz="half" idx="10"/>
          </p:nvPr>
        </p:nvSpPr>
        <p:spPr/>
        <p:txBody>
          <a:bodyPr/>
          <a:lstStyle/>
          <a:p>
            <a:fld id="{C539BAFE-1C58-4281-B660-E6D6B17C58DE}" type="datetime1">
              <a:rPr lang="en-GB" smtClean="0"/>
              <a:t>24/11/2025</a:t>
            </a:fld>
            <a:endParaRPr lang="en-GB"/>
          </a:p>
        </p:txBody>
      </p:sp>
      <p:sp>
        <p:nvSpPr>
          <p:cNvPr id="3" name="Footer Placeholder 2">
            <a:extLst>
              <a:ext uri="{FF2B5EF4-FFF2-40B4-BE49-F238E27FC236}">
                <a16:creationId xmlns:a16="http://schemas.microsoft.com/office/drawing/2014/main" id="{1DE7401D-7FC5-09E2-AD1E-D6061C51C91A}"/>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55CD0938-DF55-4FA2-0F84-0551E0591DBC}"/>
              </a:ext>
            </a:extLst>
          </p:cNvPr>
          <p:cNvSpPr>
            <a:spLocks noGrp="1"/>
          </p:cNvSpPr>
          <p:nvPr>
            <p:ph type="sldNum" sz="quarter" idx="12"/>
          </p:nvPr>
        </p:nvSpPr>
        <p:spPr/>
        <p:txBody>
          <a:bodyPr/>
          <a:lstStyle/>
          <a:p>
            <a:fld id="{1AE971F0-0CD2-4C47-8087-EBCE9716EA84}" type="slidenum">
              <a:rPr lang="en-GB" smtClean="0"/>
              <a:pPr/>
              <a:t>12</a:t>
            </a:fld>
            <a:endParaRPr lang="en-GB"/>
          </a:p>
        </p:txBody>
      </p:sp>
      <p:sp>
        <p:nvSpPr>
          <p:cNvPr id="5" name="TextBox 4">
            <a:extLst>
              <a:ext uri="{FF2B5EF4-FFF2-40B4-BE49-F238E27FC236}">
                <a16:creationId xmlns:a16="http://schemas.microsoft.com/office/drawing/2014/main" id="{4C507EF1-7DBF-79A6-8681-C13F003CEB62}"/>
              </a:ext>
            </a:extLst>
          </p:cNvPr>
          <p:cNvSpPr txBox="1"/>
          <p:nvPr/>
        </p:nvSpPr>
        <p:spPr>
          <a:xfrm>
            <a:off x="647700" y="2767280"/>
            <a:ext cx="3390900" cy="1323439"/>
          </a:xfrm>
          <a:prstGeom prst="rect">
            <a:avLst/>
          </a:prstGeom>
          <a:noFill/>
        </p:spPr>
        <p:txBody>
          <a:bodyPr wrap="square" rtlCol="0">
            <a:spAutoFit/>
          </a:bodyPr>
          <a:lstStyle/>
          <a:p>
            <a:r>
              <a:rPr lang="en-GB" sz="4000" dirty="0">
                <a:solidFill>
                  <a:srgbClr val="FAFBFC"/>
                </a:solidFill>
              </a:rPr>
              <a:t>Interim </a:t>
            </a:r>
          </a:p>
          <a:p>
            <a:r>
              <a:rPr lang="en-GB" sz="4000" dirty="0">
                <a:solidFill>
                  <a:srgbClr val="FAFBFC"/>
                </a:solidFill>
              </a:rPr>
              <a:t>Goals</a:t>
            </a:r>
          </a:p>
        </p:txBody>
      </p:sp>
      <p:sp>
        <p:nvSpPr>
          <p:cNvPr id="6" name="TextBox 5">
            <a:extLst>
              <a:ext uri="{FF2B5EF4-FFF2-40B4-BE49-F238E27FC236}">
                <a16:creationId xmlns:a16="http://schemas.microsoft.com/office/drawing/2014/main" id="{DB5927AD-CB41-57FB-9515-AC425B8B3CA5}"/>
              </a:ext>
            </a:extLst>
          </p:cNvPr>
          <p:cNvSpPr txBox="1"/>
          <p:nvPr/>
        </p:nvSpPr>
        <p:spPr>
          <a:xfrm>
            <a:off x="4559300" y="1536173"/>
            <a:ext cx="7188200" cy="3785652"/>
          </a:xfrm>
          <a:prstGeom prst="rect">
            <a:avLst/>
          </a:prstGeom>
          <a:noFill/>
        </p:spPr>
        <p:txBody>
          <a:bodyPr wrap="square" rtlCol="0">
            <a:spAutoFit/>
          </a:bodyPr>
          <a:lstStyle/>
          <a:p>
            <a:pPr algn="l" rtl="0"/>
            <a:r>
              <a:rPr lang="en-IE" sz="2400" b="0" i="0" u="none" strike="noStrike" dirty="0">
                <a:effectLst/>
                <a:latin typeface="Arial" panose="020B0604020202020204" pitchFamily="34" charset="0"/>
              </a:rPr>
              <a:t>Convince your readers that the project is complex</a:t>
            </a:r>
          </a:p>
          <a:p>
            <a:pPr algn="l" rtl="0"/>
            <a:endParaRPr lang="en-IE" sz="2400" dirty="0">
              <a:latin typeface="Arial" panose="020B0604020202020204" pitchFamily="34" charset="0"/>
            </a:endParaRPr>
          </a:p>
          <a:p>
            <a:pPr algn="l" rtl="0"/>
            <a:r>
              <a:rPr lang="en-GB" sz="2400" dirty="0"/>
              <a:t>Convince your readers that you have a well-defined plan for next semester</a:t>
            </a:r>
          </a:p>
          <a:p>
            <a:pPr algn="l" rtl="0"/>
            <a:endParaRPr lang="en-GB" sz="2400" dirty="0"/>
          </a:p>
          <a:p>
            <a:pPr algn="l" rtl="0"/>
            <a:r>
              <a:rPr lang="en-GB" sz="2400" dirty="0"/>
              <a:t>Show your readers that you can engage critically (with your own work, and with research)</a:t>
            </a:r>
          </a:p>
          <a:p>
            <a:pPr algn="l" rtl="0"/>
            <a:endParaRPr lang="en-GB" sz="2400" dirty="0"/>
          </a:p>
          <a:p>
            <a:pPr algn="l" rtl="0"/>
            <a:r>
              <a:rPr lang="en-GB" sz="2400" dirty="0"/>
              <a:t>Show your readers that you’ve made substantial progress</a:t>
            </a:r>
          </a:p>
        </p:txBody>
      </p:sp>
    </p:spTree>
    <p:extLst>
      <p:ext uri="{BB962C8B-B14F-4D97-AF65-F5344CB8AC3E}">
        <p14:creationId xmlns:p14="http://schemas.microsoft.com/office/powerpoint/2010/main" val="3874302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41014F-9418-A4A9-D8CE-46A86044F54D}"/>
              </a:ext>
            </a:extLst>
          </p:cNvPr>
          <p:cNvSpPr>
            <a:spLocks noGrp="1"/>
          </p:cNvSpPr>
          <p:nvPr>
            <p:ph type="dt" sz="half" idx="10"/>
          </p:nvPr>
        </p:nvSpPr>
        <p:spPr/>
        <p:txBody>
          <a:bodyPr/>
          <a:lstStyle/>
          <a:p>
            <a:fld id="{C539BAFE-1C58-4281-B660-E6D6B17C58DE}" type="datetime1">
              <a:rPr lang="en-GB" smtClean="0"/>
              <a:t>24/11/2025</a:t>
            </a:fld>
            <a:endParaRPr lang="en-GB"/>
          </a:p>
        </p:txBody>
      </p:sp>
      <p:sp>
        <p:nvSpPr>
          <p:cNvPr id="3" name="Footer Placeholder 2">
            <a:extLst>
              <a:ext uri="{FF2B5EF4-FFF2-40B4-BE49-F238E27FC236}">
                <a16:creationId xmlns:a16="http://schemas.microsoft.com/office/drawing/2014/main" id="{D8535423-FFA2-9DDF-2BEF-38F17C71AAC9}"/>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7D318BBB-A995-D523-A906-32E2E3AC0E21}"/>
              </a:ext>
            </a:extLst>
          </p:cNvPr>
          <p:cNvSpPr>
            <a:spLocks noGrp="1"/>
          </p:cNvSpPr>
          <p:nvPr>
            <p:ph type="sldNum" sz="quarter" idx="12"/>
          </p:nvPr>
        </p:nvSpPr>
        <p:spPr/>
        <p:txBody>
          <a:bodyPr/>
          <a:lstStyle/>
          <a:p>
            <a:fld id="{1AE971F0-0CD2-4C47-8087-EBCE9716EA84}" type="slidenum">
              <a:rPr lang="en-GB" smtClean="0"/>
              <a:pPr/>
              <a:t>13</a:t>
            </a:fld>
            <a:endParaRPr lang="en-GB"/>
          </a:p>
        </p:txBody>
      </p:sp>
      <p:sp>
        <p:nvSpPr>
          <p:cNvPr id="5" name="TextBox 4">
            <a:extLst>
              <a:ext uri="{FF2B5EF4-FFF2-40B4-BE49-F238E27FC236}">
                <a16:creationId xmlns:a16="http://schemas.microsoft.com/office/drawing/2014/main" id="{CFAA1DF7-9878-9598-0F3A-613C74AD0A16}"/>
              </a:ext>
            </a:extLst>
          </p:cNvPr>
          <p:cNvSpPr txBox="1"/>
          <p:nvPr/>
        </p:nvSpPr>
        <p:spPr>
          <a:xfrm>
            <a:off x="647700" y="2767280"/>
            <a:ext cx="3390900" cy="1323439"/>
          </a:xfrm>
          <a:prstGeom prst="rect">
            <a:avLst/>
          </a:prstGeom>
          <a:noFill/>
        </p:spPr>
        <p:txBody>
          <a:bodyPr wrap="square" rtlCol="0">
            <a:spAutoFit/>
          </a:bodyPr>
          <a:lstStyle/>
          <a:p>
            <a:r>
              <a:rPr lang="en-GB" sz="4000" dirty="0">
                <a:solidFill>
                  <a:srgbClr val="FAFBFC"/>
                </a:solidFill>
              </a:rPr>
              <a:t>Logistics of the demo</a:t>
            </a:r>
          </a:p>
        </p:txBody>
      </p:sp>
      <p:sp>
        <p:nvSpPr>
          <p:cNvPr id="6" name="TextBox 5">
            <a:extLst>
              <a:ext uri="{FF2B5EF4-FFF2-40B4-BE49-F238E27FC236}">
                <a16:creationId xmlns:a16="http://schemas.microsoft.com/office/drawing/2014/main" id="{D314869F-DCA3-F946-17CD-D50AAD722DD2}"/>
              </a:ext>
            </a:extLst>
          </p:cNvPr>
          <p:cNvSpPr txBox="1"/>
          <p:nvPr/>
        </p:nvSpPr>
        <p:spPr>
          <a:xfrm>
            <a:off x="4559300" y="1536173"/>
            <a:ext cx="7188200" cy="3046988"/>
          </a:xfrm>
          <a:prstGeom prst="rect">
            <a:avLst/>
          </a:prstGeom>
          <a:noFill/>
        </p:spPr>
        <p:txBody>
          <a:bodyPr wrap="square" rtlCol="0">
            <a:spAutoFit/>
          </a:bodyPr>
          <a:lstStyle/>
          <a:p>
            <a:pPr algn="l" rtl="0"/>
            <a:r>
              <a:rPr lang="en-GB" sz="2400" dirty="0"/>
              <a:t>Emails sent in Week 11 to let you know the day and time of your presentation</a:t>
            </a:r>
          </a:p>
          <a:p>
            <a:pPr algn="l" rtl="0"/>
            <a:endParaRPr lang="en-GB" sz="2400" dirty="0"/>
          </a:p>
          <a:p>
            <a:pPr algn="l" rtl="0"/>
            <a:r>
              <a:rPr lang="en-GB" sz="2400" dirty="0"/>
              <a:t>Individual Online meeting created for each student</a:t>
            </a:r>
          </a:p>
          <a:p>
            <a:pPr algn="l" rtl="0"/>
            <a:endParaRPr lang="en-GB" sz="2400" dirty="0"/>
          </a:p>
          <a:p>
            <a:pPr algn="l" rtl="0"/>
            <a:r>
              <a:rPr lang="en-GB" sz="2400" dirty="0"/>
              <a:t>Please join your </a:t>
            </a:r>
            <a:r>
              <a:rPr lang="en-GB" sz="2400" dirty="0" err="1"/>
              <a:t>Onlione</a:t>
            </a:r>
            <a:r>
              <a:rPr lang="en-GB" sz="2400" dirty="0"/>
              <a:t> meeting 5 minutes early</a:t>
            </a:r>
          </a:p>
          <a:p>
            <a:pPr algn="l" rtl="0"/>
            <a:endParaRPr lang="en-GB" sz="2400" dirty="0"/>
          </a:p>
          <a:p>
            <a:pPr algn="l" rtl="0"/>
            <a:r>
              <a:rPr lang="en-GB" sz="2400" b="1" dirty="0"/>
              <a:t>Please make sure you are available for your slot</a:t>
            </a:r>
          </a:p>
        </p:txBody>
      </p:sp>
    </p:spTree>
    <p:extLst>
      <p:ext uri="{BB962C8B-B14F-4D97-AF65-F5344CB8AC3E}">
        <p14:creationId xmlns:p14="http://schemas.microsoft.com/office/powerpoint/2010/main" val="1004872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7B1F31-ADD3-B451-79D7-EE4CCE937A8C}"/>
              </a:ext>
            </a:extLst>
          </p:cNvPr>
          <p:cNvSpPr>
            <a:spLocks noGrp="1"/>
          </p:cNvSpPr>
          <p:nvPr>
            <p:ph type="dt" sz="half" idx="10"/>
          </p:nvPr>
        </p:nvSpPr>
        <p:spPr/>
        <p:txBody>
          <a:bodyPr/>
          <a:lstStyle/>
          <a:p>
            <a:fld id="{C539BAFE-1C58-4281-B660-E6D6B17C58DE}" type="datetime1">
              <a:rPr lang="en-GB" smtClean="0"/>
              <a:t>24/11/2025</a:t>
            </a:fld>
            <a:endParaRPr lang="en-GB"/>
          </a:p>
        </p:txBody>
      </p:sp>
      <p:sp>
        <p:nvSpPr>
          <p:cNvPr id="3" name="Footer Placeholder 2">
            <a:extLst>
              <a:ext uri="{FF2B5EF4-FFF2-40B4-BE49-F238E27FC236}">
                <a16:creationId xmlns:a16="http://schemas.microsoft.com/office/drawing/2014/main" id="{CC7CC4D6-4FD8-15DF-AF8D-C45195502E96}"/>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7F83512D-511E-7BD8-E4A3-38C8C6BA7AAC}"/>
              </a:ext>
            </a:extLst>
          </p:cNvPr>
          <p:cNvSpPr>
            <a:spLocks noGrp="1"/>
          </p:cNvSpPr>
          <p:nvPr>
            <p:ph type="sldNum" sz="quarter" idx="12"/>
          </p:nvPr>
        </p:nvSpPr>
        <p:spPr/>
        <p:txBody>
          <a:bodyPr/>
          <a:lstStyle/>
          <a:p>
            <a:fld id="{1AE971F0-0CD2-4C47-8087-EBCE9716EA84}" type="slidenum">
              <a:rPr lang="en-GB" smtClean="0"/>
              <a:pPr/>
              <a:t>14</a:t>
            </a:fld>
            <a:endParaRPr lang="en-GB"/>
          </a:p>
        </p:txBody>
      </p:sp>
      <p:sp>
        <p:nvSpPr>
          <p:cNvPr id="5" name="TextBox 4">
            <a:extLst>
              <a:ext uri="{FF2B5EF4-FFF2-40B4-BE49-F238E27FC236}">
                <a16:creationId xmlns:a16="http://schemas.microsoft.com/office/drawing/2014/main" id="{4628E0A2-CD09-8716-BAF9-8F6D569C7436}"/>
              </a:ext>
            </a:extLst>
          </p:cNvPr>
          <p:cNvSpPr txBox="1"/>
          <p:nvPr/>
        </p:nvSpPr>
        <p:spPr>
          <a:xfrm>
            <a:off x="647700" y="2767280"/>
            <a:ext cx="3390900" cy="1323439"/>
          </a:xfrm>
          <a:prstGeom prst="rect">
            <a:avLst/>
          </a:prstGeom>
          <a:noFill/>
        </p:spPr>
        <p:txBody>
          <a:bodyPr wrap="square" rtlCol="0">
            <a:spAutoFit/>
          </a:bodyPr>
          <a:lstStyle/>
          <a:p>
            <a:r>
              <a:rPr lang="en-GB" sz="4000" dirty="0">
                <a:solidFill>
                  <a:srgbClr val="FAFBFC"/>
                </a:solidFill>
              </a:rPr>
              <a:t>Format of the Presentation</a:t>
            </a:r>
          </a:p>
        </p:txBody>
      </p:sp>
      <p:sp>
        <p:nvSpPr>
          <p:cNvPr id="6" name="TextBox 5">
            <a:extLst>
              <a:ext uri="{FF2B5EF4-FFF2-40B4-BE49-F238E27FC236}">
                <a16:creationId xmlns:a16="http://schemas.microsoft.com/office/drawing/2014/main" id="{DE0A75C6-ABB2-ADD3-05F4-6CF63546BE12}"/>
              </a:ext>
            </a:extLst>
          </p:cNvPr>
          <p:cNvSpPr txBox="1"/>
          <p:nvPr/>
        </p:nvSpPr>
        <p:spPr>
          <a:xfrm>
            <a:off x="4559300" y="1536173"/>
            <a:ext cx="7188200" cy="3416320"/>
          </a:xfrm>
          <a:prstGeom prst="rect">
            <a:avLst/>
          </a:prstGeom>
          <a:noFill/>
        </p:spPr>
        <p:txBody>
          <a:bodyPr wrap="square" rtlCol="0">
            <a:spAutoFit/>
          </a:bodyPr>
          <a:lstStyle/>
          <a:p>
            <a:pPr algn="l" rtl="0"/>
            <a:r>
              <a:rPr lang="en-GB" sz="2400" b="0" i="0" u="none" strike="noStrike" dirty="0">
                <a:effectLst/>
                <a:latin typeface="Arial" panose="020B0604020202020204" pitchFamily="34" charset="0"/>
              </a:rPr>
              <a:t>You will present online (</a:t>
            </a:r>
            <a:r>
              <a:rPr lang="en-GB" sz="2400" dirty="0">
                <a:latin typeface="Arial" panose="020B0604020202020204" pitchFamily="34" charset="0"/>
              </a:rPr>
              <a:t>8 to 10 </a:t>
            </a:r>
            <a:r>
              <a:rPr lang="en-GB" sz="2400" b="0" i="0" u="none" strike="noStrike" dirty="0">
                <a:effectLst/>
                <a:latin typeface="Arial" panose="020B0604020202020204" pitchFamily="34" charset="0"/>
              </a:rPr>
              <a:t>minutes) to</a:t>
            </a:r>
          </a:p>
          <a:p>
            <a:pPr marL="342900" indent="-342900" algn="l" rtl="0">
              <a:buFont typeface="Arial" panose="020B0604020202020204" pitchFamily="34" charset="0"/>
              <a:buChar char="•"/>
            </a:pPr>
            <a:r>
              <a:rPr lang="en-GB" sz="2400" dirty="0">
                <a:latin typeface="Arial" panose="020B0604020202020204" pitchFamily="34" charset="0"/>
              </a:rPr>
              <a:t>Your supervisor</a:t>
            </a:r>
          </a:p>
          <a:p>
            <a:pPr marL="342900" indent="-342900" algn="l" rtl="0">
              <a:buFont typeface="Arial" panose="020B0604020202020204" pitchFamily="34" charset="0"/>
              <a:buChar char="•"/>
            </a:pPr>
            <a:r>
              <a:rPr lang="en-GB" sz="2400" b="0" i="0" u="none" strike="noStrike" dirty="0">
                <a:effectLst/>
                <a:latin typeface="Arial" panose="020B0604020202020204" pitchFamily="34" charset="0"/>
              </a:rPr>
              <a:t>Your second-reader</a:t>
            </a:r>
          </a:p>
          <a:p>
            <a:pPr marL="342900" indent="-342900" algn="l" rtl="0">
              <a:buFont typeface="Arial" panose="020B0604020202020204" pitchFamily="34" charset="0"/>
              <a:buChar char="•"/>
            </a:pPr>
            <a:endParaRPr lang="en-GB" sz="2400" b="0" i="0" u="none" strike="noStrike" dirty="0">
              <a:effectLst/>
              <a:latin typeface="Arial" panose="020B0604020202020204" pitchFamily="34" charset="0"/>
            </a:endParaRPr>
          </a:p>
          <a:p>
            <a:pPr algn="l" rtl="0"/>
            <a:endParaRPr lang="en-GB" sz="2400" b="0" i="0" u="none" strike="noStrike" dirty="0">
              <a:effectLst/>
              <a:latin typeface="Arial" panose="020B0604020202020204" pitchFamily="34" charset="0"/>
            </a:endParaRPr>
          </a:p>
          <a:p>
            <a:pPr algn="l" rtl="0"/>
            <a:r>
              <a:rPr lang="en-GB" sz="2400" b="0" i="0" u="none" strike="noStrike" dirty="0">
                <a:effectLst/>
                <a:latin typeface="Arial" panose="020B0604020202020204" pitchFamily="34" charset="0"/>
              </a:rPr>
              <a:t>Followed by 5 – 10 minutes of Q &amp; A from your second-reader and supervisor</a:t>
            </a:r>
          </a:p>
          <a:p>
            <a:pPr algn="l" rtl="0"/>
            <a:endParaRPr lang="en-GB" sz="2400" dirty="0">
              <a:latin typeface="Arial" panose="020B0604020202020204" pitchFamily="34" charset="0"/>
            </a:endParaRPr>
          </a:p>
          <a:p>
            <a:pPr algn="l" rtl="0"/>
            <a:endParaRPr lang="en-GB" sz="2400" b="0" i="0" u="none" strike="noStrike" dirty="0">
              <a:effectLst/>
              <a:latin typeface="Arial" panose="020B0604020202020204" pitchFamily="34" charset="0"/>
            </a:endParaRPr>
          </a:p>
        </p:txBody>
      </p:sp>
    </p:spTree>
    <p:extLst>
      <p:ext uri="{BB962C8B-B14F-4D97-AF65-F5344CB8AC3E}">
        <p14:creationId xmlns:p14="http://schemas.microsoft.com/office/powerpoint/2010/main" val="380190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ED9338-E9FE-F9AB-B1D7-6F66C5AD0191}"/>
              </a:ext>
            </a:extLst>
          </p:cNvPr>
          <p:cNvSpPr>
            <a:spLocks noGrp="1"/>
          </p:cNvSpPr>
          <p:nvPr>
            <p:ph type="dt" sz="half" idx="10"/>
          </p:nvPr>
        </p:nvSpPr>
        <p:spPr/>
        <p:txBody>
          <a:bodyPr/>
          <a:lstStyle/>
          <a:p>
            <a:fld id="{C539BAFE-1C58-4281-B660-E6D6B17C58DE}" type="datetime1">
              <a:rPr lang="en-GB" smtClean="0"/>
              <a:t>24/11/2025</a:t>
            </a:fld>
            <a:endParaRPr lang="en-GB"/>
          </a:p>
        </p:txBody>
      </p:sp>
      <p:sp>
        <p:nvSpPr>
          <p:cNvPr id="3" name="Footer Placeholder 2">
            <a:extLst>
              <a:ext uri="{FF2B5EF4-FFF2-40B4-BE49-F238E27FC236}">
                <a16:creationId xmlns:a16="http://schemas.microsoft.com/office/drawing/2014/main" id="{D9476981-D1CD-3524-B382-DCA2D097568B}"/>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1ABD8941-AD3F-F2A8-0209-53DDF79E6743}"/>
              </a:ext>
            </a:extLst>
          </p:cNvPr>
          <p:cNvSpPr>
            <a:spLocks noGrp="1"/>
          </p:cNvSpPr>
          <p:nvPr>
            <p:ph type="sldNum" sz="quarter" idx="12"/>
          </p:nvPr>
        </p:nvSpPr>
        <p:spPr/>
        <p:txBody>
          <a:bodyPr/>
          <a:lstStyle/>
          <a:p>
            <a:fld id="{1AE971F0-0CD2-4C47-8087-EBCE9716EA84}" type="slidenum">
              <a:rPr lang="en-GB" smtClean="0"/>
              <a:pPr/>
              <a:t>15</a:t>
            </a:fld>
            <a:endParaRPr lang="en-GB"/>
          </a:p>
        </p:txBody>
      </p:sp>
      <p:sp>
        <p:nvSpPr>
          <p:cNvPr id="5" name="TextBox 4">
            <a:extLst>
              <a:ext uri="{FF2B5EF4-FFF2-40B4-BE49-F238E27FC236}">
                <a16:creationId xmlns:a16="http://schemas.microsoft.com/office/drawing/2014/main" id="{24F965B3-A47A-68A0-4ED6-48E4F1FE1AC7}"/>
              </a:ext>
            </a:extLst>
          </p:cNvPr>
          <p:cNvSpPr txBox="1"/>
          <p:nvPr/>
        </p:nvSpPr>
        <p:spPr>
          <a:xfrm>
            <a:off x="647700" y="2767280"/>
            <a:ext cx="3390900" cy="707886"/>
          </a:xfrm>
          <a:prstGeom prst="rect">
            <a:avLst/>
          </a:prstGeom>
          <a:noFill/>
        </p:spPr>
        <p:txBody>
          <a:bodyPr wrap="square" rtlCol="0">
            <a:spAutoFit/>
          </a:bodyPr>
          <a:lstStyle/>
          <a:p>
            <a:r>
              <a:rPr lang="en-GB" sz="4000" dirty="0">
                <a:solidFill>
                  <a:srgbClr val="FAFBFC"/>
                </a:solidFill>
              </a:rPr>
              <a:t>Demo</a:t>
            </a:r>
          </a:p>
        </p:txBody>
      </p:sp>
      <p:sp>
        <p:nvSpPr>
          <p:cNvPr id="6" name="TextBox 5">
            <a:extLst>
              <a:ext uri="{FF2B5EF4-FFF2-40B4-BE49-F238E27FC236}">
                <a16:creationId xmlns:a16="http://schemas.microsoft.com/office/drawing/2014/main" id="{57F26DFC-5DEF-C3DE-C50F-2540805ECDD4}"/>
              </a:ext>
            </a:extLst>
          </p:cNvPr>
          <p:cNvSpPr txBox="1"/>
          <p:nvPr/>
        </p:nvSpPr>
        <p:spPr>
          <a:xfrm>
            <a:off x="4559300" y="1536173"/>
            <a:ext cx="7188200" cy="3046988"/>
          </a:xfrm>
          <a:prstGeom prst="rect">
            <a:avLst/>
          </a:prstGeom>
          <a:noFill/>
        </p:spPr>
        <p:txBody>
          <a:bodyPr wrap="square" rtlCol="0">
            <a:spAutoFit/>
          </a:bodyPr>
          <a:lstStyle/>
          <a:p>
            <a:pPr algn="l" rtl="0"/>
            <a:endParaRPr lang="en-GB" sz="2400" b="0" i="0" u="none" strike="noStrike" dirty="0">
              <a:effectLst/>
              <a:latin typeface="Arial" panose="020B0604020202020204" pitchFamily="34" charset="0"/>
            </a:endParaRPr>
          </a:p>
          <a:p>
            <a:pPr algn="l" rtl="0"/>
            <a:r>
              <a:rPr lang="en-GB" sz="2400" b="0" i="0" u="none" strike="noStrike" dirty="0">
                <a:effectLst/>
                <a:latin typeface="Arial" panose="020B0604020202020204" pitchFamily="34" charset="0"/>
              </a:rPr>
              <a:t>You can choose when to do the demo</a:t>
            </a:r>
          </a:p>
          <a:p>
            <a:pPr algn="l" rtl="0"/>
            <a:endParaRPr lang="en-GB" sz="2400" dirty="0">
              <a:latin typeface="Arial" panose="020B0604020202020204" pitchFamily="34" charset="0"/>
            </a:endParaRPr>
          </a:p>
          <a:p>
            <a:pPr algn="l" rtl="0"/>
            <a:endParaRPr lang="en-GB" sz="2400" dirty="0">
              <a:latin typeface="Arial" panose="020B0604020202020204" pitchFamily="34" charset="0"/>
            </a:endParaRPr>
          </a:p>
          <a:p>
            <a:pPr algn="l" rtl="0"/>
            <a:endParaRPr lang="en-GB" sz="2400" dirty="0">
              <a:latin typeface="Arial" panose="020B0604020202020204" pitchFamily="34" charset="0"/>
            </a:endParaRPr>
          </a:p>
          <a:p>
            <a:pPr algn="l" rtl="0"/>
            <a:r>
              <a:rPr lang="en-GB" sz="2400" dirty="0">
                <a:latin typeface="Arial" panose="020B0604020202020204" pitchFamily="34" charset="0"/>
              </a:rPr>
              <a:t>You can record a demo as a backup but it’s </a:t>
            </a:r>
            <a:r>
              <a:rPr lang="en-GB" sz="2400" b="1" dirty="0">
                <a:latin typeface="Arial" panose="020B0604020202020204" pitchFamily="34" charset="0"/>
              </a:rPr>
              <a:t>always better to try to do a live demo</a:t>
            </a:r>
            <a:endParaRPr lang="en-GB" sz="2400" b="0" i="0" u="none" strike="noStrike" dirty="0">
              <a:effectLst/>
              <a:latin typeface="Arial" panose="020B0604020202020204" pitchFamily="34" charset="0"/>
            </a:endParaRPr>
          </a:p>
          <a:p>
            <a:pPr algn="l" rtl="0"/>
            <a:endParaRPr lang="en-GB" sz="2400" dirty="0">
              <a:latin typeface="Arial" panose="020B0604020202020204" pitchFamily="34" charset="0"/>
            </a:endParaRPr>
          </a:p>
        </p:txBody>
      </p:sp>
    </p:spTree>
    <p:extLst>
      <p:ext uri="{BB962C8B-B14F-4D97-AF65-F5344CB8AC3E}">
        <p14:creationId xmlns:p14="http://schemas.microsoft.com/office/powerpoint/2010/main" val="3776997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570BA5-B841-C76B-837F-674D97FF08F8}"/>
              </a:ext>
            </a:extLst>
          </p:cNvPr>
          <p:cNvSpPr>
            <a:spLocks noGrp="1"/>
          </p:cNvSpPr>
          <p:nvPr>
            <p:ph type="dt" sz="half" idx="10"/>
          </p:nvPr>
        </p:nvSpPr>
        <p:spPr/>
        <p:txBody>
          <a:bodyPr/>
          <a:lstStyle/>
          <a:p>
            <a:fld id="{C539BAFE-1C58-4281-B660-E6D6B17C58DE}" type="datetime1">
              <a:rPr lang="en-GB" smtClean="0"/>
              <a:t>24/11/2025</a:t>
            </a:fld>
            <a:endParaRPr lang="en-GB"/>
          </a:p>
        </p:txBody>
      </p:sp>
      <p:sp>
        <p:nvSpPr>
          <p:cNvPr id="3" name="Footer Placeholder 2">
            <a:extLst>
              <a:ext uri="{FF2B5EF4-FFF2-40B4-BE49-F238E27FC236}">
                <a16:creationId xmlns:a16="http://schemas.microsoft.com/office/drawing/2014/main" id="{44583872-7E43-EE44-6B9C-02CA179D4043}"/>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A3EA56F8-CA45-4DA1-327E-7C6F9E18E6FE}"/>
              </a:ext>
            </a:extLst>
          </p:cNvPr>
          <p:cNvSpPr>
            <a:spLocks noGrp="1"/>
          </p:cNvSpPr>
          <p:nvPr>
            <p:ph type="sldNum" sz="quarter" idx="12"/>
          </p:nvPr>
        </p:nvSpPr>
        <p:spPr/>
        <p:txBody>
          <a:bodyPr/>
          <a:lstStyle/>
          <a:p>
            <a:fld id="{1AE971F0-0CD2-4C47-8087-EBCE9716EA84}" type="slidenum">
              <a:rPr lang="en-GB" smtClean="0"/>
              <a:pPr/>
              <a:t>16</a:t>
            </a:fld>
            <a:endParaRPr lang="en-GB"/>
          </a:p>
        </p:txBody>
      </p:sp>
      <p:sp>
        <p:nvSpPr>
          <p:cNvPr id="5" name="TextBox 4">
            <a:extLst>
              <a:ext uri="{FF2B5EF4-FFF2-40B4-BE49-F238E27FC236}">
                <a16:creationId xmlns:a16="http://schemas.microsoft.com/office/drawing/2014/main" id="{272687A1-5BF0-D461-B3B4-438F35B9794C}"/>
              </a:ext>
            </a:extLst>
          </p:cNvPr>
          <p:cNvSpPr txBox="1"/>
          <p:nvPr/>
        </p:nvSpPr>
        <p:spPr>
          <a:xfrm>
            <a:off x="469900" y="2443727"/>
            <a:ext cx="3390900" cy="1323439"/>
          </a:xfrm>
          <a:prstGeom prst="rect">
            <a:avLst/>
          </a:prstGeom>
          <a:noFill/>
        </p:spPr>
        <p:txBody>
          <a:bodyPr wrap="square" rtlCol="0">
            <a:spAutoFit/>
          </a:bodyPr>
          <a:lstStyle/>
          <a:p>
            <a:r>
              <a:rPr lang="en-GB" sz="4000" dirty="0">
                <a:solidFill>
                  <a:srgbClr val="FAFBFC"/>
                </a:solidFill>
              </a:rPr>
              <a:t>Section Review</a:t>
            </a:r>
          </a:p>
        </p:txBody>
      </p:sp>
      <p:sp>
        <p:nvSpPr>
          <p:cNvPr id="6" name="TextBox 5">
            <a:extLst>
              <a:ext uri="{FF2B5EF4-FFF2-40B4-BE49-F238E27FC236}">
                <a16:creationId xmlns:a16="http://schemas.microsoft.com/office/drawing/2014/main" id="{E9998964-68F3-5534-C1DB-23073EA28FF2}"/>
              </a:ext>
            </a:extLst>
          </p:cNvPr>
          <p:cNvSpPr txBox="1"/>
          <p:nvPr/>
        </p:nvSpPr>
        <p:spPr>
          <a:xfrm>
            <a:off x="4756150" y="581442"/>
            <a:ext cx="7226300" cy="5016758"/>
          </a:xfrm>
          <a:prstGeom prst="rect">
            <a:avLst/>
          </a:prstGeom>
          <a:noFill/>
        </p:spPr>
        <p:txBody>
          <a:bodyPr wrap="square">
            <a:spAutoFit/>
          </a:bodyPr>
          <a:lstStyle/>
          <a:p>
            <a:pPr marL="457200" indent="-457200">
              <a:buFont typeface="Arial" panose="020B0604020202020204" pitchFamily="34" charset="0"/>
              <a:buChar char="•"/>
            </a:pPr>
            <a:r>
              <a:rPr lang="en-GB" sz="3200" dirty="0"/>
              <a:t>In the interim you want to show your readers that your project is</a:t>
            </a:r>
          </a:p>
          <a:p>
            <a:pPr marL="1371600" lvl="2" indent="-457200">
              <a:buFont typeface="Arial" panose="020B0604020202020204" pitchFamily="34" charset="0"/>
              <a:buChar char="•"/>
            </a:pPr>
            <a:r>
              <a:rPr lang="en-GB" sz="3200" dirty="0"/>
              <a:t>Complex</a:t>
            </a:r>
          </a:p>
          <a:p>
            <a:pPr marL="1371600" lvl="2" indent="-457200">
              <a:buFont typeface="Arial" panose="020B0604020202020204" pitchFamily="34" charset="0"/>
              <a:buChar char="•"/>
            </a:pPr>
            <a:r>
              <a:rPr lang="en-GB" sz="3200" dirty="0"/>
              <a:t>Completely Specified</a:t>
            </a:r>
          </a:p>
          <a:p>
            <a:pPr marL="1371600" lvl="2" indent="-457200">
              <a:buFont typeface="Arial" panose="020B0604020202020204" pitchFamily="34" charset="0"/>
              <a:buChar char="•"/>
            </a:pPr>
            <a:r>
              <a:rPr lang="en-GB" sz="3200" dirty="0"/>
              <a:t>Considered</a:t>
            </a:r>
          </a:p>
          <a:p>
            <a:pPr marL="1371600" lvl="2" indent="-457200">
              <a:buFont typeface="Arial" panose="020B0604020202020204" pitchFamily="34" charset="0"/>
              <a:buChar char="•"/>
            </a:pPr>
            <a:r>
              <a:rPr lang="en-GB" sz="3200" dirty="0"/>
              <a:t>Somewhat Unique</a:t>
            </a:r>
          </a:p>
          <a:p>
            <a:pPr marL="457200" indent="-457200">
              <a:buFont typeface="Arial" panose="020B0604020202020204" pitchFamily="34" charset="0"/>
              <a:buChar char="•"/>
            </a:pPr>
            <a:endParaRPr lang="en-GB" sz="3200" dirty="0"/>
          </a:p>
          <a:p>
            <a:pPr marL="457200" indent="-457200">
              <a:buFont typeface="Arial" panose="020B0604020202020204" pitchFamily="34" charset="0"/>
              <a:buChar char="•"/>
            </a:pPr>
            <a:r>
              <a:rPr lang="en-GB" sz="3200" dirty="0"/>
              <a:t>The presentation is your chance to convey this to your readers.</a:t>
            </a:r>
          </a:p>
          <a:p>
            <a:pPr marL="457200" indent="-457200">
              <a:buFont typeface="Arial" panose="020B0604020202020204" pitchFamily="34" charset="0"/>
              <a:buChar char="•"/>
            </a:pPr>
            <a:endParaRPr lang="en-GB" sz="3200" dirty="0"/>
          </a:p>
        </p:txBody>
      </p:sp>
    </p:spTree>
    <p:extLst>
      <p:ext uri="{BB962C8B-B14F-4D97-AF65-F5344CB8AC3E}">
        <p14:creationId xmlns:p14="http://schemas.microsoft.com/office/powerpoint/2010/main" val="378483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15265A-C9B2-09DA-FCFB-66314CA9C5AA}"/>
              </a:ext>
            </a:extLst>
          </p:cNvPr>
          <p:cNvSpPr>
            <a:spLocks noGrp="1"/>
          </p:cNvSpPr>
          <p:nvPr>
            <p:ph type="dt" sz="half" idx="10"/>
          </p:nvPr>
        </p:nvSpPr>
        <p:spPr/>
        <p:txBody>
          <a:bodyPr/>
          <a:lstStyle/>
          <a:p>
            <a:fld id="{28A87C09-EA21-4155-B611-2CC395930E15}" type="datetime1">
              <a:rPr lang="en-GB" smtClean="0"/>
              <a:t>24/11/2025</a:t>
            </a:fld>
            <a:endParaRPr lang="en-GB"/>
          </a:p>
        </p:txBody>
      </p:sp>
      <p:sp>
        <p:nvSpPr>
          <p:cNvPr id="3" name="Footer Placeholder 2">
            <a:extLst>
              <a:ext uri="{FF2B5EF4-FFF2-40B4-BE49-F238E27FC236}">
                <a16:creationId xmlns:a16="http://schemas.microsoft.com/office/drawing/2014/main" id="{E7201FA9-3638-FB12-491D-908646FF77F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EEC6C65-198A-A459-157D-DB2EBFADED6B}"/>
              </a:ext>
            </a:extLst>
          </p:cNvPr>
          <p:cNvSpPr>
            <a:spLocks noGrp="1"/>
          </p:cNvSpPr>
          <p:nvPr>
            <p:ph type="sldNum" sz="quarter" idx="12"/>
          </p:nvPr>
        </p:nvSpPr>
        <p:spPr/>
        <p:txBody>
          <a:bodyPr/>
          <a:lstStyle/>
          <a:p>
            <a:fld id="{1AE971F0-0CD2-4C47-8087-EBCE9716EA84}" type="slidenum">
              <a:rPr lang="en-GB" smtClean="0"/>
              <a:t>17</a:t>
            </a:fld>
            <a:endParaRPr lang="en-GB"/>
          </a:p>
        </p:txBody>
      </p:sp>
      <p:sp>
        <p:nvSpPr>
          <p:cNvPr id="5" name="TextBox 4">
            <a:extLst>
              <a:ext uri="{FF2B5EF4-FFF2-40B4-BE49-F238E27FC236}">
                <a16:creationId xmlns:a16="http://schemas.microsoft.com/office/drawing/2014/main" id="{E21B68A8-95C2-2B80-329E-74C7D610CCB6}"/>
              </a:ext>
            </a:extLst>
          </p:cNvPr>
          <p:cNvSpPr txBox="1"/>
          <p:nvPr/>
        </p:nvSpPr>
        <p:spPr>
          <a:xfrm>
            <a:off x="1879600" y="2875002"/>
            <a:ext cx="9474200" cy="2123658"/>
          </a:xfrm>
          <a:prstGeom prst="rect">
            <a:avLst/>
          </a:prstGeom>
          <a:noFill/>
        </p:spPr>
        <p:txBody>
          <a:bodyPr wrap="square" rtlCol="0">
            <a:spAutoFit/>
          </a:bodyPr>
          <a:lstStyle/>
          <a:p>
            <a:r>
              <a:rPr lang="en-GB" sz="6600" b="1" dirty="0">
                <a:solidFill>
                  <a:srgbClr val="FAFBFC"/>
                </a:solidFill>
                <a:latin typeface="+mj-lt"/>
              </a:rPr>
              <a:t>Interim Demo Overview</a:t>
            </a:r>
            <a:endParaRPr lang="en-GB" sz="6600" b="1" dirty="0">
              <a:solidFill>
                <a:srgbClr val="FAFBFC"/>
              </a:solidFill>
            </a:endParaRPr>
          </a:p>
        </p:txBody>
      </p:sp>
    </p:spTree>
    <p:extLst>
      <p:ext uri="{BB962C8B-B14F-4D97-AF65-F5344CB8AC3E}">
        <p14:creationId xmlns:p14="http://schemas.microsoft.com/office/powerpoint/2010/main" val="4058875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CB56D8-CBAF-D822-1A7C-C3195AEFA00B}"/>
              </a:ext>
            </a:extLst>
          </p:cNvPr>
          <p:cNvSpPr>
            <a:spLocks noGrp="1"/>
          </p:cNvSpPr>
          <p:nvPr>
            <p:ph type="dt" sz="half" idx="10"/>
          </p:nvPr>
        </p:nvSpPr>
        <p:spPr/>
        <p:txBody>
          <a:bodyPr/>
          <a:lstStyle/>
          <a:p>
            <a:fld id="{EF2B95A8-393F-442D-989E-BEA34941A7FD}" type="datetime1">
              <a:rPr lang="en-GB" smtClean="0"/>
              <a:t>24/11/2025</a:t>
            </a:fld>
            <a:endParaRPr lang="en-GB"/>
          </a:p>
        </p:txBody>
      </p:sp>
      <p:sp>
        <p:nvSpPr>
          <p:cNvPr id="3" name="Footer Placeholder 2">
            <a:extLst>
              <a:ext uri="{FF2B5EF4-FFF2-40B4-BE49-F238E27FC236}">
                <a16:creationId xmlns:a16="http://schemas.microsoft.com/office/drawing/2014/main" id="{F5268E45-987E-217C-092A-32953545C194}"/>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4DCAC958-FAC2-B0A3-1DD8-7A2BCD632E35}"/>
              </a:ext>
            </a:extLst>
          </p:cNvPr>
          <p:cNvSpPr>
            <a:spLocks noGrp="1"/>
          </p:cNvSpPr>
          <p:nvPr>
            <p:ph type="sldNum" sz="quarter" idx="12"/>
          </p:nvPr>
        </p:nvSpPr>
        <p:spPr/>
        <p:txBody>
          <a:bodyPr/>
          <a:lstStyle/>
          <a:p>
            <a:fld id="{1AE971F0-0CD2-4C47-8087-EBCE9716EA84}" type="slidenum">
              <a:rPr lang="en-GB" smtClean="0"/>
              <a:pPr/>
              <a:t>18</a:t>
            </a:fld>
            <a:endParaRPr lang="en-GB"/>
          </a:p>
        </p:txBody>
      </p:sp>
      <p:sp>
        <p:nvSpPr>
          <p:cNvPr id="5" name="TextBox 4">
            <a:extLst>
              <a:ext uri="{FF2B5EF4-FFF2-40B4-BE49-F238E27FC236}">
                <a16:creationId xmlns:a16="http://schemas.microsoft.com/office/drawing/2014/main" id="{CF38919A-F71E-8E13-A7CD-4B7EBA1268A5}"/>
              </a:ext>
            </a:extLst>
          </p:cNvPr>
          <p:cNvSpPr txBox="1"/>
          <p:nvPr/>
        </p:nvSpPr>
        <p:spPr>
          <a:xfrm>
            <a:off x="406400" y="2459504"/>
            <a:ext cx="3390900" cy="1323439"/>
          </a:xfrm>
          <a:prstGeom prst="rect">
            <a:avLst/>
          </a:prstGeom>
          <a:noFill/>
        </p:spPr>
        <p:txBody>
          <a:bodyPr wrap="square" rtlCol="0">
            <a:spAutoFit/>
          </a:bodyPr>
          <a:lstStyle/>
          <a:p>
            <a:r>
              <a:rPr lang="en-GB" sz="4000" dirty="0">
                <a:solidFill>
                  <a:srgbClr val="FAFBFC"/>
                </a:solidFill>
              </a:rPr>
              <a:t>Freedom to choose</a:t>
            </a:r>
          </a:p>
        </p:txBody>
      </p:sp>
      <p:sp>
        <p:nvSpPr>
          <p:cNvPr id="6" name="Content Placeholder 2">
            <a:extLst>
              <a:ext uri="{FF2B5EF4-FFF2-40B4-BE49-F238E27FC236}">
                <a16:creationId xmlns:a16="http://schemas.microsoft.com/office/drawing/2014/main" id="{1BB763AF-2890-E035-2D4B-1E39952F04F0}"/>
              </a:ext>
            </a:extLst>
          </p:cNvPr>
          <p:cNvSpPr txBox="1">
            <a:spLocks/>
          </p:cNvSpPr>
          <p:nvPr/>
        </p:nvSpPr>
        <p:spPr>
          <a:xfrm>
            <a:off x="4038600" y="749300"/>
            <a:ext cx="7956550" cy="5359400"/>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You can structure your demo however you want.</a:t>
            </a:r>
          </a:p>
          <a:p>
            <a:r>
              <a:rPr lang="en-GB" dirty="0"/>
              <a:t>The following discussion should be treated as suggestions which you can take or leave</a:t>
            </a:r>
          </a:p>
        </p:txBody>
      </p:sp>
    </p:spTree>
    <p:extLst>
      <p:ext uri="{BB962C8B-B14F-4D97-AF65-F5344CB8AC3E}">
        <p14:creationId xmlns:p14="http://schemas.microsoft.com/office/powerpoint/2010/main" val="2162956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8FA584-9069-97B1-71F0-013CBA807681}"/>
              </a:ext>
            </a:extLst>
          </p:cNvPr>
          <p:cNvSpPr>
            <a:spLocks noGrp="1"/>
          </p:cNvSpPr>
          <p:nvPr>
            <p:ph type="dt" sz="half" idx="10"/>
          </p:nvPr>
        </p:nvSpPr>
        <p:spPr/>
        <p:txBody>
          <a:bodyPr/>
          <a:lstStyle/>
          <a:p>
            <a:fld id="{EF2B95A8-393F-442D-989E-BEA34941A7FD}" type="datetime1">
              <a:rPr lang="en-GB" smtClean="0"/>
              <a:t>24/11/2025</a:t>
            </a:fld>
            <a:endParaRPr lang="en-GB"/>
          </a:p>
        </p:txBody>
      </p:sp>
      <p:sp>
        <p:nvSpPr>
          <p:cNvPr id="3" name="Footer Placeholder 2">
            <a:extLst>
              <a:ext uri="{FF2B5EF4-FFF2-40B4-BE49-F238E27FC236}">
                <a16:creationId xmlns:a16="http://schemas.microsoft.com/office/drawing/2014/main" id="{52EB85DC-2910-795F-E771-DB634232DBA8}"/>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96EE8A57-3618-4567-D0E5-7A5343090D54}"/>
              </a:ext>
            </a:extLst>
          </p:cNvPr>
          <p:cNvSpPr>
            <a:spLocks noGrp="1"/>
          </p:cNvSpPr>
          <p:nvPr>
            <p:ph type="sldNum" sz="quarter" idx="12"/>
          </p:nvPr>
        </p:nvSpPr>
        <p:spPr/>
        <p:txBody>
          <a:bodyPr/>
          <a:lstStyle/>
          <a:p>
            <a:fld id="{1AE971F0-0CD2-4C47-8087-EBCE9716EA84}" type="slidenum">
              <a:rPr lang="en-GB" smtClean="0"/>
              <a:pPr/>
              <a:t>19</a:t>
            </a:fld>
            <a:endParaRPr lang="en-GB"/>
          </a:p>
        </p:txBody>
      </p:sp>
      <p:sp>
        <p:nvSpPr>
          <p:cNvPr id="5" name="TextBox 4">
            <a:extLst>
              <a:ext uri="{FF2B5EF4-FFF2-40B4-BE49-F238E27FC236}">
                <a16:creationId xmlns:a16="http://schemas.microsoft.com/office/drawing/2014/main" id="{92F4AFFC-64BA-EB39-FEBE-91EC7C0E4AAC}"/>
              </a:ext>
            </a:extLst>
          </p:cNvPr>
          <p:cNvSpPr txBox="1"/>
          <p:nvPr/>
        </p:nvSpPr>
        <p:spPr>
          <a:xfrm>
            <a:off x="368300" y="3075057"/>
            <a:ext cx="3390900" cy="707886"/>
          </a:xfrm>
          <a:prstGeom prst="rect">
            <a:avLst/>
          </a:prstGeom>
          <a:noFill/>
        </p:spPr>
        <p:txBody>
          <a:bodyPr wrap="square" rtlCol="0">
            <a:spAutoFit/>
          </a:bodyPr>
          <a:lstStyle/>
          <a:p>
            <a:r>
              <a:rPr lang="en-GB" sz="4000" dirty="0">
                <a:solidFill>
                  <a:srgbClr val="FAFBFC"/>
                </a:solidFill>
              </a:rPr>
              <a:t>Slides</a:t>
            </a:r>
          </a:p>
        </p:txBody>
      </p:sp>
      <p:sp>
        <p:nvSpPr>
          <p:cNvPr id="6" name="Content Placeholder 2">
            <a:extLst>
              <a:ext uri="{FF2B5EF4-FFF2-40B4-BE49-F238E27FC236}">
                <a16:creationId xmlns:a16="http://schemas.microsoft.com/office/drawing/2014/main" id="{5E0222C4-D184-699C-C2CB-034F053A24F8}"/>
              </a:ext>
            </a:extLst>
          </p:cNvPr>
          <p:cNvSpPr txBox="1">
            <a:spLocks/>
          </p:cNvSpPr>
          <p:nvPr/>
        </p:nvSpPr>
        <p:spPr>
          <a:xfrm>
            <a:off x="4038600" y="749300"/>
            <a:ext cx="7956550" cy="5359400"/>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Intro (student name, number, supervisor, project name)</a:t>
            </a:r>
          </a:p>
          <a:p>
            <a:r>
              <a:rPr lang="en-GB" dirty="0"/>
              <a:t>Overview (</a:t>
            </a:r>
            <a:r>
              <a:rPr lang="en-GB" i="1" dirty="0"/>
              <a:t>elevator pitch</a:t>
            </a:r>
            <a:r>
              <a:rPr lang="en-GB" dirty="0"/>
              <a:t>)</a:t>
            </a:r>
          </a:p>
          <a:p>
            <a:r>
              <a:rPr lang="en-GB" dirty="0"/>
              <a:t>Background Research</a:t>
            </a:r>
          </a:p>
          <a:p>
            <a:r>
              <a:rPr lang="en-GB" dirty="0"/>
              <a:t>Requirements Analysis</a:t>
            </a:r>
          </a:p>
          <a:p>
            <a:r>
              <a:rPr lang="en-GB" dirty="0"/>
              <a:t>Design</a:t>
            </a:r>
          </a:p>
          <a:p>
            <a:r>
              <a:rPr lang="en-GB" dirty="0"/>
              <a:t>Testing plan</a:t>
            </a:r>
          </a:p>
          <a:p>
            <a:r>
              <a:rPr lang="en-GB" dirty="0"/>
              <a:t>Results to date</a:t>
            </a:r>
          </a:p>
          <a:p>
            <a:r>
              <a:rPr lang="en-GB" dirty="0"/>
              <a:t>Future Work</a:t>
            </a:r>
          </a:p>
          <a:p>
            <a:endParaRPr lang="en-GB" dirty="0"/>
          </a:p>
        </p:txBody>
      </p:sp>
    </p:spTree>
    <p:extLst>
      <p:ext uri="{BB962C8B-B14F-4D97-AF65-F5344CB8AC3E}">
        <p14:creationId xmlns:p14="http://schemas.microsoft.com/office/powerpoint/2010/main" val="3591570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0151BC-A441-461B-43AE-0CE3A643B25E}"/>
              </a:ext>
            </a:extLst>
          </p:cNvPr>
          <p:cNvSpPr>
            <a:spLocks noGrp="1"/>
          </p:cNvSpPr>
          <p:nvPr>
            <p:ph type="dt" sz="half" idx="10"/>
          </p:nvPr>
        </p:nvSpPr>
        <p:spPr/>
        <p:txBody>
          <a:bodyPr/>
          <a:lstStyle/>
          <a:p>
            <a:fld id="{EF2B95A8-393F-442D-989E-BEA34941A7FD}" type="datetime1">
              <a:rPr lang="en-GB" smtClean="0"/>
              <a:t>24/11/2025</a:t>
            </a:fld>
            <a:endParaRPr lang="en-GB"/>
          </a:p>
        </p:txBody>
      </p:sp>
      <p:sp>
        <p:nvSpPr>
          <p:cNvPr id="3" name="Footer Placeholder 2">
            <a:extLst>
              <a:ext uri="{FF2B5EF4-FFF2-40B4-BE49-F238E27FC236}">
                <a16:creationId xmlns:a16="http://schemas.microsoft.com/office/drawing/2014/main" id="{CFF3B224-58BD-AA1B-3661-697231C8BE14}"/>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0BD77DFC-3B8E-B6CD-0218-EC7CB2BD5442}"/>
              </a:ext>
            </a:extLst>
          </p:cNvPr>
          <p:cNvSpPr>
            <a:spLocks noGrp="1"/>
          </p:cNvSpPr>
          <p:nvPr>
            <p:ph type="sldNum" sz="quarter" idx="12"/>
          </p:nvPr>
        </p:nvSpPr>
        <p:spPr/>
        <p:txBody>
          <a:bodyPr/>
          <a:lstStyle/>
          <a:p>
            <a:fld id="{1AE971F0-0CD2-4C47-8087-EBCE9716EA84}" type="slidenum">
              <a:rPr lang="en-GB" smtClean="0"/>
              <a:pPr/>
              <a:t>20</a:t>
            </a:fld>
            <a:endParaRPr lang="en-GB"/>
          </a:p>
        </p:txBody>
      </p:sp>
      <p:sp>
        <p:nvSpPr>
          <p:cNvPr id="5" name="TextBox 4">
            <a:extLst>
              <a:ext uri="{FF2B5EF4-FFF2-40B4-BE49-F238E27FC236}">
                <a16:creationId xmlns:a16="http://schemas.microsoft.com/office/drawing/2014/main" id="{03C3B210-98DE-B300-0304-7A1D4FCE5E30}"/>
              </a:ext>
            </a:extLst>
          </p:cNvPr>
          <p:cNvSpPr txBox="1"/>
          <p:nvPr/>
        </p:nvSpPr>
        <p:spPr>
          <a:xfrm>
            <a:off x="393700" y="3075057"/>
            <a:ext cx="3390900" cy="707886"/>
          </a:xfrm>
          <a:prstGeom prst="rect">
            <a:avLst/>
          </a:prstGeom>
          <a:noFill/>
        </p:spPr>
        <p:txBody>
          <a:bodyPr wrap="square" rtlCol="0">
            <a:spAutoFit/>
          </a:bodyPr>
          <a:lstStyle/>
          <a:p>
            <a:r>
              <a:rPr lang="en-GB" sz="4000" dirty="0">
                <a:solidFill>
                  <a:srgbClr val="FAFBFC"/>
                </a:solidFill>
              </a:rPr>
              <a:t>Rule of 7</a:t>
            </a:r>
          </a:p>
        </p:txBody>
      </p:sp>
      <p:sp>
        <p:nvSpPr>
          <p:cNvPr id="6" name="Content Placeholder 2">
            <a:extLst>
              <a:ext uri="{FF2B5EF4-FFF2-40B4-BE49-F238E27FC236}">
                <a16:creationId xmlns:a16="http://schemas.microsoft.com/office/drawing/2014/main" id="{1CC61178-7325-25F8-9309-0F3DA7107EDE}"/>
              </a:ext>
            </a:extLst>
          </p:cNvPr>
          <p:cNvSpPr txBox="1">
            <a:spLocks/>
          </p:cNvSpPr>
          <p:nvPr/>
        </p:nvSpPr>
        <p:spPr>
          <a:xfrm>
            <a:off x="4038600" y="749300"/>
            <a:ext cx="7956550" cy="5359400"/>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 rule of 7 states that, in order to avoid clutter, you should have no more than 7 lines on any given PowerPoint slide</a:t>
            </a:r>
          </a:p>
          <a:p>
            <a:r>
              <a:rPr lang="en-GB" dirty="0"/>
              <a:t>It also states that you should avoid having any more than 7 words on any line</a:t>
            </a:r>
          </a:p>
          <a:p>
            <a:r>
              <a:rPr lang="en-GB" dirty="0"/>
              <a:t>If you have more than 7 lines or more than 7 words your listeners are more likely to read your slides and less likely to listen to you when you talk</a:t>
            </a:r>
          </a:p>
          <a:p>
            <a:r>
              <a:rPr lang="en-GB" dirty="0"/>
              <a:t>You’ll also end up reading off your slides which can be off-putting. People read much faster than they talk, so your listeners will already have read your slides and be waiting for you to finish and move on to the next one. (They might as well have used a screen-reader)</a:t>
            </a:r>
          </a:p>
          <a:p>
            <a:r>
              <a:rPr lang="en-GB" dirty="0"/>
              <a:t>If you’re afraid that you won’t remember what to say you can always use the presenter view which allows you to have notes which show up on your screen (use the notes section at the bottom of the screen in edit mode)</a:t>
            </a:r>
          </a:p>
          <a:p>
            <a:endParaRPr lang="en-GB" dirty="0"/>
          </a:p>
          <a:p>
            <a:endParaRPr lang="en-GB" dirty="0"/>
          </a:p>
        </p:txBody>
      </p:sp>
    </p:spTree>
    <p:extLst>
      <p:ext uri="{BB962C8B-B14F-4D97-AF65-F5344CB8AC3E}">
        <p14:creationId xmlns:p14="http://schemas.microsoft.com/office/powerpoint/2010/main" val="2307654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0151BC-A441-461B-43AE-0CE3A643B25E}"/>
              </a:ext>
            </a:extLst>
          </p:cNvPr>
          <p:cNvSpPr>
            <a:spLocks noGrp="1"/>
          </p:cNvSpPr>
          <p:nvPr>
            <p:ph type="dt" sz="half" idx="10"/>
          </p:nvPr>
        </p:nvSpPr>
        <p:spPr/>
        <p:txBody>
          <a:bodyPr/>
          <a:lstStyle/>
          <a:p>
            <a:fld id="{EF2B95A8-393F-442D-989E-BEA34941A7FD}" type="datetime1">
              <a:rPr lang="en-GB" smtClean="0"/>
              <a:t>24/11/2025</a:t>
            </a:fld>
            <a:endParaRPr lang="en-GB"/>
          </a:p>
        </p:txBody>
      </p:sp>
      <p:sp>
        <p:nvSpPr>
          <p:cNvPr id="3" name="Footer Placeholder 2">
            <a:extLst>
              <a:ext uri="{FF2B5EF4-FFF2-40B4-BE49-F238E27FC236}">
                <a16:creationId xmlns:a16="http://schemas.microsoft.com/office/drawing/2014/main" id="{CFF3B224-58BD-AA1B-3661-697231C8BE14}"/>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0BD77DFC-3B8E-B6CD-0218-EC7CB2BD5442}"/>
              </a:ext>
            </a:extLst>
          </p:cNvPr>
          <p:cNvSpPr>
            <a:spLocks noGrp="1"/>
          </p:cNvSpPr>
          <p:nvPr>
            <p:ph type="sldNum" sz="quarter" idx="12"/>
          </p:nvPr>
        </p:nvSpPr>
        <p:spPr/>
        <p:txBody>
          <a:bodyPr/>
          <a:lstStyle/>
          <a:p>
            <a:fld id="{1AE971F0-0CD2-4C47-8087-EBCE9716EA84}" type="slidenum">
              <a:rPr lang="en-GB" smtClean="0"/>
              <a:pPr/>
              <a:t>21</a:t>
            </a:fld>
            <a:endParaRPr lang="en-GB"/>
          </a:p>
        </p:txBody>
      </p:sp>
      <p:sp>
        <p:nvSpPr>
          <p:cNvPr id="5" name="TextBox 4">
            <a:extLst>
              <a:ext uri="{FF2B5EF4-FFF2-40B4-BE49-F238E27FC236}">
                <a16:creationId xmlns:a16="http://schemas.microsoft.com/office/drawing/2014/main" id="{03C3B210-98DE-B300-0304-7A1D4FCE5E30}"/>
              </a:ext>
            </a:extLst>
          </p:cNvPr>
          <p:cNvSpPr txBox="1"/>
          <p:nvPr/>
        </p:nvSpPr>
        <p:spPr>
          <a:xfrm>
            <a:off x="393700" y="3075057"/>
            <a:ext cx="3390900" cy="707886"/>
          </a:xfrm>
          <a:prstGeom prst="rect">
            <a:avLst/>
          </a:prstGeom>
          <a:noFill/>
        </p:spPr>
        <p:txBody>
          <a:bodyPr wrap="square" rtlCol="0">
            <a:spAutoFit/>
          </a:bodyPr>
          <a:lstStyle/>
          <a:p>
            <a:r>
              <a:rPr lang="en-GB" sz="4000" dirty="0">
                <a:solidFill>
                  <a:srgbClr val="FAFBFC"/>
                </a:solidFill>
              </a:rPr>
              <a:t>Rule of 7</a:t>
            </a:r>
          </a:p>
        </p:txBody>
      </p:sp>
      <p:sp>
        <p:nvSpPr>
          <p:cNvPr id="6" name="Content Placeholder 2">
            <a:extLst>
              <a:ext uri="{FF2B5EF4-FFF2-40B4-BE49-F238E27FC236}">
                <a16:creationId xmlns:a16="http://schemas.microsoft.com/office/drawing/2014/main" id="{1CC61178-7325-25F8-9309-0F3DA7107EDE}"/>
              </a:ext>
            </a:extLst>
          </p:cNvPr>
          <p:cNvSpPr txBox="1">
            <a:spLocks/>
          </p:cNvSpPr>
          <p:nvPr/>
        </p:nvSpPr>
        <p:spPr>
          <a:xfrm>
            <a:off x="4038600" y="749300"/>
            <a:ext cx="7956550" cy="5359400"/>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No more than 7 lines per slide</a:t>
            </a:r>
          </a:p>
          <a:p>
            <a:endParaRPr lang="en-GB" dirty="0"/>
          </a:p>
          <a:p>
            <a:r>
              <a:rPr lang="en-GB" dirty="0"/>
              <a:t>No more than 7 words per line</a:t>
            </a:r>
          </a:p>
          <a:p>
            <a:endParaRPr lang="en-GB" dirty="0"/>
          </a:p>
          <a:p>
            <a:r>
              <a:rPr lang="en-GB" dirty="0"/>
              <a:t>Forces your readers to listen</a:t>
            </a:r>
          </a:p>
          <a:p>
            <a:endParaRPr lang="en-GB" dirty="0"/>
          </a:p>
          <a:p>
            <a:r>
              <a:rPr lang="en-GB" dirty="0"/>
              <a:t>Forces you to engage</a:t>
            </a:r>
          </a:p>
          <a:p>
            <a:endParaRPr lang="en-GB" dirty="0"/>
          </a:p>
          <a:p>
            <a:r>
              <a:rPr lang="en-GB" dirty="0"/>
              <a:t>Use presenter mode</a:t>
            </a:r>
          </a:p>
          <a:p>
            <a:endParaRPr lang="en-GB" dirty="0"/>
          </a:p>
          <a:p>
            <a:endParaRPr lang="en-GB" dirty="0"/>
          </a:p>
        </p:txBody>
      </p:sp>
    </p:spTree>
    <p:extLst>
      <p:ext uri="{BB962C8B-B14F-4D97-AF65-F5344CB8AC3E}">
        <p14:creationId xmlns:p14="http://schemas.microsoft.com/office/powerpoint/2010/main" val="422952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B5C307-4DFB-0BAA-8079-1A37EF51401B}"/>
              </a:ext>
            </a:extLst>
          </p:cNvPr>
          <p:cNvSpPr>
            <a:spLocks noGrp="1"/>
          </p:cNvSpPr>
          <p:nvPr>
            <p:ph type="dt" sz="half" idx="10"/>
          </p:nvPr>
        </p:nvSpPr>
        <p:spPr/>
        <p:txBody>
          <a:bodyPr/>
          <a:lstStyle/>
          <a:p>
            <a:fld id="{EF2B95A8-393F-442D-989E-BEA34941A7FD}" type="datetime1">
              <a:rPr lang="en-GB" smtClean="0"/>
              <a:t>24/11/2025</a:t>
            </a:fld>
            <a:endParaRPr lang="en-GB"/>
          </a:p>
        </p:txBody>
      </p:sp>
      <p:sp>
        <p:nvSpPr>
          <p:cNvPr id="3" name="Footer Placeholder 2">
            <a:extLst>
              <a:ext uri="{FF2B5EF4-FFF2-40B4-BE49-F238E27FC236}">
                <a16:creationId xmlns:a16="http://schemas.microsoft.com/office/drawing/2014/main" id="{F7BDDD30-0D21-C9FD-E52C-F623C9FE70BC}"/>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FF53EC33-B04F-2D25-7A5D-CEC1B3F4DFA3}"/>
              </a:ext>
            </a:extLst>
          </p:cNvPr>
          <p:cNvSpPr>
            <a:spLocks noGrp="1"/>
          </p:cNvSpPr>
          <p:nvPr>
            <p:ph type="sldNum" sz="quarter" idx="12"/>
          </p:nvPr>
        </p:nvSpPr>
        <p:spPr/>
        <p:txBody>
          <a:bodyPr/>
          <a:lstStyle/>
          <a:p>
            <a:fld id="{1AE971F0-0CD2-4C47-8087-EBCE9716EA84}" type="slidenum">
              <a:rPr lang="en-GB" smtClean="0"/>
              <a:pPr/>
              <a:t>22</a:t>
            </a:fld>
            <a:endParaRPr lang="en-GB"/>
          </a:p>
        </p:txBody>
      </p:sp>
      <p:sp>
        <p:nvSpPr>
          <p:cNvPr id="5" name="TextBox 4">
            <a:extLst>
              <a:ext uri="{FF2B5EF4-FFF2-40B4-BE49-F238E27FC236}">
                <a16:creationId xmlns:a16="http://schemas.microsoft.com/office/drawing/2014/main" id="{2A2B9EE3-3215-390C-9871-0DDC0703D11D}"/>
              </a:ext>
            </a:extLst>
          </p:cNvPr>
          <p:cNvSpPr txBox="1"/>
          <p:nvPr/>
        </p:nvSpPr>
        <p:spPr>
          <a:xfrm>
            <a:off x="393700" y="3075057"/>
            <a:ext cx="3390900" cy="707886"/>
          </a:xfrm>
          <a:prstGeom prst="rect">
            <a:avLst/>
          </a:prstGeom>
          <a:noFill/>
        </p:spPr>
        <p:txBody>
          <a:bodyPr wrap="square" rtlCol="0">
            <a:spAutoFit/>
          </a:bodyPr>
          <a:lstStyle/>
          <a:p>
            <a:r>
              <a:rPr lang="en-GB" sz="4000" dirty="0">
                <a:solidFill>
                  <a:srgbClr val="FAFBFC"/>
                </a:solidFill>
              </a:rPr>
              <a:t>Animations</a:t>
            </a:r>
          </a:p>
        </p:txBody>
      </p:sp>
      <p:sp>
        <p:nvSpPr>
          <p:cNvPr id="6" name="Content Placeholder 2">
            <a:extLst>
              <a:ext uri="{FF2B5EF4-FFF2-40B4-BE49-F238E27FC236}">
                <a16:creationId xmlns:a16="http://schemas.microsoft.com/office/drawing/2014/main" id="{556D69A5-4DAB-0648-1681-B8E986F3A1EC}"/>
              </a:ext>
            </a:extLst>
          </p:cNvPr>
          <p:cNvSpPr txBox="1">
            <a:spLocks/>
          </p:cNvSpPr>
          <p:nvPr/>
        </p:nvSpPr>
        <p:spPr>
          <a:xfrm>
            <a:off x="4038600" y="749300"/>
            <a:ext cx="7956550" cy="5359400"/>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Can be useful</a:t>
            </a:r>
          </a:p>
          <a:p>
            <a:endParaRPr lang="en-GB" dirty="0"/>
          </a:p>
          <a:p>
            <a:r>
              <a:rPr lang="en-GB" dirty="0"/>
              <a:t>Should be muted (appear / disappear)</a:t>
            </a:r>
          </a:p>
          <a:p>
            <a:endParaRPr lang="en-GB" dirty="0"/>
          </a:p>
          <a:p>
            <a:r>
              <a:rPr lang="en-GB" dirty="0"/>
              <a:t>Be careful they don’t interrupt your flow</a:t>
            </a:r>
          </a:p>
          <a:p>
            <a:endParaRPr lang="en-GB" dirty="0"/>
          </a:p>
        </p:txBody>
      </p:sp>
    </p:spTree>
    <p:extLst>
      <p:ext uri="{BB962C8B-B14F-4D97-AF65-F5344CB8AC3E}">
        <p14:creationId xmlns:p14="http://schemas.microsoft.com/office/powerpoint/2010/main" val="727194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CB56D8-CBAF-D822-1A7C-C3195AEFA00B}"/>
              </a:ext>
            </a:extLst>
          </p:cNvPr>
          <p:cNvSpPr>
            <a:spLocks noGrp="1"/>
          </p:cNvSpPr>
          <p:nvPr>
            <p:ph type="dt" sz="half" idx="10"/>
          </p:nvPr>
        </p:nvSpPr>
        <p:spPr/>
        <p:txBody>
          <a:bodyPr/>
          <a:lstStyle/>
          <a:p>
            <a:fld id="{EF2B95A8-393F-442D-989E-BEA34941A7FD}" type="datetime1">
              <a:rPr lang="en-GB" smtClean="0"/>
              <a:t>24/11/2025</a:t>
            </a:fld>
            <a:endParaRPr lang="en-GB"/>
          </a:p>
        </p:txBody>
      </p:sp>
      <p:sp>
        <p:nvSpPr>
          <p:cNvPr id="3" name="Footer Placeholder 2">
            <a:extLst>
              <a:ext uri="{FF2B5EF4-FFF2-40B4-BE49-F238E27FC236}">
                <a16:creationId xmlns:a16="http://schemas.microsoft.com/office/drawing/2014/main" id="{F5268E45-987E-217C-092A-32953545C194}"/>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4DCAC958-FAC2-B0A3-1DD8-7A2BCD632E35}"/>
              </a:ext>
            </a:extLst>
          </p:cNvPr>
          <p:cNvSpPr>
            <a:spLocks noGrp="1"/>
          </p:cNvSpPr>
          <p:nvPr>
            <p:ph type="sldNum" sz="quarter" idx="12"/>
          </p:nvPr>
        </p:nvSpPr>
        <p:spPr/>
        <p:txBody>
          <a:bodyPr/>
          <a:lstStyle/>
          <a:p>
            <a:fld id="{1AE971F0-0CD2-4C47-8087-EBCE9716EA84}" type="slidenum">
              <a:rPr lang="en-GB" smtClean="0"/>
              <a:pPr/>
              <a:t>23</a:t>
            </a:fld>
            <a:endParaRPr lang="en-GB"/>
          </a:p>
        </p:txBody>
      </p:sp>
      <p:sp>
        <p:nvSpPr>
          <p:cNvPr id="5" name="TextBox 4">
            <a:extLst>
              <a:ext uri="{FF2B5EF4-FFF2-40B4-BE49-F238E27FC236}">
                <a16:creationId xmlns:a16="http://schemas.microsoft.com/office/drawing/2014/main" id="{CF38919A-F71E-8E13-A7CD-4B7EBA1268A5}"/>
              </a:ext>
            </a:extLst>
          </p:cNvPr>
          <p:cNvSpPr txBox="1"/>
          <p:nvPr/>
        </p:nvSpPr>
        <p:spPr>
          <a:xfrm>
            <a:off x="514350" y="3075057"/>
            <a:ext cx="2743200" cy="707886"/>
          </a:xfrm>
          <a:prstGeom prst="rect">
            <a:avLst/>
          </a:prstGeom>
          <a:noFill/>
        </p:spPr>
        <p:txBody>
          <a:bodyPr wrap="square" rtlCol="0">
            <a:spAutoFit/>
          </a:bodyPr>
          <a:lstStyle/>
          <a:p>
            <a:r>
              <a:rPr lang="en-GB" sz="4000" dirty="0">
                <a:solidFill>
                  <a:srgbClr val="FAFBFC"/>
                </a:solidFill>
              </a:rPr>
              <a:t>Content</a:t>
            </a:r>
          </a:p>
        </p:txBody>
      </p:sp>
      <p:sp>
        <p:nvSpPr>
          <p:cNvPr id="6" name="Content Placeholder 2">
            <a:extLst>
              <a:ext uri="{FF2B5EF4-FFF2-40B4-BE49-F238E27FC236}">
                <a16:creationId xmlns:a16="http://schemas.microsoft.com/office/drawing/2014/main" id="{1BB763AF-2890-E035-2D4B-1E39952F04F0}"/>
              </a:ext>
            </a:extLst>
          </p:cNvPr>
          <p:cNvSpPr txBox="1">
            <a:spLocks/>
          </p:cNvSpPr>
          <p:nvPr/>
        </p:nvSpPr>
        <p:spPr>
          <a:xfrm>
            <a:off x="4038600" y="749300"/>
            <a:ext cx="7956550" cy="5359400"/>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Some examiners have 16 interims to read in under a 1 week</a:t>
            </a:r>
          </a:p>
          <a:p>
            <a:r>
              <a:rPr lang="en-GB" dirty="0"/>
              <a:t>Remind them what your project is all about</a:t>
            </a:r>
          </a:p>
          <a:p>
            <a:r>
              <a:rPr lang="en-GB" dirty="0"/>
              <a:t>Refer them to the text for details, but cover the main points of your report</a:t>
            </a:r>
          </a:p>
          <a:p>
            <a:r>
              <a:rPr lang="en-GB" dirty="0"/>
              <a:t>Diagrams, tables etc. from the report work well in slides</a:t>
            </a:r>
          </a:p>
        </p:txBody>
      </p:sp>
    </p:spTree>
    <p:extLst>
      <p:ext uri="{BB962C8B-B14F-4D97-AF65-F5344CB8AC3E}">
        <p14:creationId xmlns:p14="http://schemas.microsoft.com/office/powerpoint/2010/main" val="598415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D1CD0-A835-0095-D17B-29024F223C22}"/>
              </a:ext>
            </a:extLst>
          </p:cNvPr>
          <p:cNvSpPr>
            <a:spLocks noGrp="1"/>
          </p:cNvSpPr>
          <p:nvPr>
            <p:ph type="dt" sz="half" idx="10"/>
          </p:nvPr>
        </p:nvSpPr>
        <p:spPr/>
        <p:txBody>
          <a:bodyPr/>
          <a:lstStyle/>
          <a:p>
            <a:fld id="{EF2B95A8-393F-442D-989E-BEA34941A7FD}" type="datetime1">
              <a:rPr lang="en-GB" smtClean="0"/>
              <a:t>24/11/2025</a:t>
            </a:fld>
            <a:endParaRPr lang="en-GB"/>
          </a:p>
        </p:txBody>
      </p:sp>
      <p:sp>
        <p:nvSpPr>
          <p:cNvPr id="3" name="Footer Placeholder 2">
            <a:extLst>
              <a:ext uri="{FF2B5EF4-FFF2-40B4-BE49-F238E27FC236}">
                <a16:creationId xmlns:a16="http://schemas.microsoft.com/office/drawing/2014/main" id="{A4D575C8-C4BD-C54E-355F-AA60972C3B43}"/>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9949B971-6B77-9DC6-87C1-6D4F6495C78F}"/>
              </a:ext>
            </a:extLst>
          </p:cNvPr>
          <p:cNvSpPr>
            <a:spLocks noGrp="1"/>
          </p:cNvSpPr>
          <p:nvPr>
            <p:ph type="sldNum" sz="quarter" idx="12"/>
          </p:nvPr>
        </p:nvSpPr>
        <p:spPr/>
        <p:txBody>
          <a:bodyPr/>
          <a:lstStyle/>
          <a:p>
            <a:fld id="{1AE971F0-0CD2-4C47-8087-EBCE9716EA84}" type="slidenum">
              <a:rPr lang="en-GB" smtClean="0"/>
              <a:pPr/>
              <a:t>24</a:t>
            </a:fld>
            <a:endParaRPr lang="en-GB"/>
          </a:p>
        </p:txBody>
      </p:sp>
      <p:sp>
        <p:nvSpPr>
          <p:cNvPr id="5" name="TextBox 4">
            <a:extLst>
              <a:ext uri="{FF2B5EF4-FFF2-40B4-BE49-F238E27FC236}">
                <a16:creationId xmlns:a16="http://schemas.microsoft.com/office/drawing/2014/main" id="{5320D760-8CE0-FCBA-7B30-AA03C5AD7628}"/>
              </a:ext>
            </a:extLst>
          </p:cNvPr>
          <p:cNvSpPr txBox="1"/>
          <p:nvPr/>
        </p:nvSpPr>
        <p:spPr>
          <a:xfrm>
            <a:off x="514350" y="3075057"/>
            <a:ext cx="2900654" cy="707886"/>
          </a:xfrm>
          <a:prstGeom prst="rect">
            <a:avLst/>
          </a:prstGeom>
          <a:noFill/>
        </p:spPr>
        <p:txBody>
          <a:bodyPr wrap="square" rtlCol="0">
            <a:spAutoFit/>
          </a:bodyPr>
          <a:lstStyle/>
          <a:p>
            <a:r>
              <a:rPr lang="en-GB" sz="4000" dirty="0">
                <a:solidFill>
                  <a:srgbClr val="FAFBFC"/>
                </a:solidFill>
              </a:rPr>
              <a:t>Preparation</a:t>
            </a:r>
          </a:p>
        </p:txBody>
      </p:sp>
      <p:sp>
        <p:nvSpPr>
          <p:cNvPr id="6" name="Content Placeholder 2">
            <a:extLst>
              <a:ext uri="{FF2B5EF4-FFF2-40B4-BE49-F238E27FC236}">
                <a16:creationId xmlns:a16="http://schemas.microsoft.com/office/drawing/2014/main" id="{EC7CEEE8-72B1-CA1F-7ED2-817EC00A0450}"/>
              </a:ext>
            </a:extLst>
          </p:cNvPr>
          <p:cNvSpPr txBox="1">
            <a:spLocks/>
          </p:cNvSpPr>
          <p:nvPr/>
        </p:nvSpPr>
        <p:spPr>
          <a:xfrm>
            <a:off x="4038600" y="749300"/>
            <a:ext cx="7956550" cy="5359400"/>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Check your slides against the rubric (is everything covered?)</a:t>
            </a:r>
          </a:p>
          <a:p>
            <a:r>
              <a:rPr lang="en-GB" dirty="0"/>
              <a:t>Record yourself presenting (for timings)</a:t>
            </a:r>
          </a:p>
          <a:p>
            <a:r>
              <a:rPr lang="en-GB" dirty="0"/>
              <a:t>You will present more quickly on the day</a:t>
            </a:r>
          </a:p>
          <a:p>
            <a:r>
              <a:rPr lang="en-GB" dirty="0"/>
              <a:t>Practice practice practice!</a:t>
            </a:r>
          </a:p>
        </p:txBody>
      </p:sp>
    </p:spTree>
    <p:extLst>
      <p:ext uri="{BB962C8B-B14F-4D97-AF65-F5344CB8AC3E}">
        <p14:creationId xmlns:p14="http://schemas.microsoft.com/office/powerpoint/2010/main" val="3224351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A80CAE-9F87-71E0-5E86-8F6EFC2DE6C5}"/>
              </a:ext>
            </a:extLst>
          </p:cNvPr>
          <p:cNvSpPr>
            <a:spLocks noGrp="1"/>
          </p:cNvSpPr>
          <p:nvPr>
            <p:ph type="dt" sz="half" idx="10"/>
          </p:nvPr>
        </p:nvSpPr>
        <p:spPr/>
        <p:txBody>
          <a:bodyPr/>
          <a:lstStyle/>
          <a:p>
            <a:fld id="{EF2B95A8-393F-442D-989E-BEA34941A7FD}" type="datetime1">
              <a:rPr lang="en-GB" smtClean="0"/>
              <a:t>24/11/2025</a:t>
            </a:fld>
            <a:endParaRPr lang="en-GB"/>
          </a:p>
        </p:txBody>
      </p:sp>
      <p:sp>
        <p:nvSpPr>
          <p:cNvPr id="3" name="Footer Placeholder 2">
            <a:extLst>
              <a:ext uri="{FF2B5EF4-FFF2-40B4-BE49-F238E27FC236}">
                <a16:creationId xmlns:a16="http://schemas.microsoft.com/office/drawing/2014/main" id="{E26EBFA2-FCB8-58FF-3241-5DCCE7F08D3F}"/>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DF03FFB4-B4A4-3A74-0C78-EF4B453509C2}"/>
              </a:ext>
            </a:extLst>
          </p:cNvPr>
          <p:cNvSpPr>
            <a:spLocks noGrp="1"/>
          </p:cNvSpPr>
          <p:nvPr>
            <p:ph type="sldNum" sz="quarter" idx="12"/>
          </p:nvPr>
        </p:nvSpPr>
        <p:spPr/>
        <p:txBody>
          <a:bodyPr/>
          <a:lstStyle/>
          <a:p>
            <a:fld id="{1AE971F0-0CD2-4C47-8087-EBCE9716EA84}" type="slidenum">
              <a:rPr lang="en-GB" smtClean="0"/>
              <a:pPr/>
              <a:t>25</a:t>
            </a:fld>
            <a:endParaRPr lang="en-GB"/>
          </a:p>
        </p:txBody>
      </p:sp>
      <p:sp>
        <p:nvSpPr>
          <p:cNvPr id="5" name="TextBox 4">
            <a:extLst>
              <a:ext uri="{FF2B5EF4-FFF2-40B4-BE49-F238E27FC236}">
                <a16:creationId xmlns:a16="http://schemas.microsoft.com/office/drawing/2014/main" id="{13C702C1-2E8E-9B2F-00CF-A5047CE1B6BB}"/>
              </a:ext>
            </a:extLst>
          </p:cNvPr>
          <p:cNvSpPr txBox="1"/>
          <p:nvPr/>
        </p:nvSpPr>
        <p:spPr>
          <a:xfrm>
            <a:off x="514350" y="2767280"/>
            <a:ext cx="2900654" cy="1323439"/>
          </a:xfrm>
          <a:prstGeom prst="rect">
            <a:avLst/>
          </a:prstGeom>
          <a:noFill/>
        </p:spPr>
        <p:txBody>
          <a:bodyPr wrap="square" rtlCol="0">
            <a:spAutoFit/>
          </a:bodyPr>
          <a:lstStyle/>
          <a:p>
            <a:r>
              <a:rPr lang="en-GB" sz="4000" dirty="0">
                <a:solidFill>
                  <a:srgbClr val="FAFBFC"/>
                </a:solidFill>
              </a:rPr>
              <a:t>Answering Questions</a:t>
            </a:r>
          </a:p>
        </p:txBody>
      </p:sp>
      <p:sp>
        <p:nvSpPr>
          <p:cNvPr id="6" name="Content Placeholder 2">
            <a:extLst>
              <a:ext uri="{FF2B5EF4-FFF2-40B4-BE49-F238E27FC236}">
                <a16:creationId xmlns:a16="http://schemas.microsoft.com/office/drawing/2014/main" id="{DDDF54DD-D14D-358D-95B9-CC39789CC9F8}"/>
              </a:ext>
            </a:extLst>
          </p:cNvPr>
          <p:cNvSpPr txBox="1">
            <a:spLocks/>
          </p:cNvSpPr>
          <p:nvPr/>
        </p:nvSpPr>
        <p:spPr>
          <a:xfrm>
            <a:off x="4038600" y="749300"/>
            <a:ext cx="7956550" cy="5359400"/>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You may be asked probing questions</a:t>
            </a:r>
          </a:p>
          <a:p>
            <a:r>
              <a:rPr lang="en-GB" dirty="0"/>
              <a:t>Usually a sign that you’re doing well</a:t>
            </a:r>
          </a:p>
          <a:p>
            <a:r>
              <a:rPr lang="en-GB" dirty="0"/>
              <a:t>Don’t take offence</a:t>
            </a:r>
          </a:p>
          <a:p>
            <a:r>
              <a:rPr lang="en-GB" dirty="0"/>
              <a:t>Don’t be afraid to say “I hadn’t considered that”</a:t>
            </a:r>
          </a:p>
          <a:p>
            <a:r>
              <a:rPr lang="en-GB" dirty="0"/>
              <a:t>Don’t be afraid to say “I had considered that but…”</a:t>
            </a:r>
          </a:p>
        </p:txBody>
      </p:sp>
    </p:spTree>
    <p:extLst>
      <p:ext uri="{BB962C8B-B14F-4D97-AF65-F5344CB8AC3E}">
        <p14:creationId xmlns:p14="http://schemas.microsoft.com/office/powerpoint/2010/main" val="7054904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87660A-AAD7-F402-EAA5-51DDF17C0943}"/>
              </a:ext>
            </a:extLst>
          </p:cNvPr>
          <p:cNvSpPr>
            <a:spLocks noGrp="1"/>
          </p:cNvSpPr>
          <p:nvPr>
            <p:ph type="dt" sz="half" idx="10"/>
          </p:nvPr>
        </p:nvSpPr>
        <p:spPr/>
        <p:txBody>
          <a:bodyPr/>
          <a:lstStyle/>
          <a:p>
            <a:fld id="{EF2B95A8-393F-442D-989E-BEA34941A7FD}" type="datetime1">
              <a:rPr lang="en-GB" smtClean="0"/>
              <a:t>24/11/2025</a:t>
            </a:fld>
            <a:endParaRPr lang="en-GB"/>
          </a:p>
        </p:txBody>
      </p:sp>
      <p:sp>
        <p:nvSpPr>
          <p:cNvPr id="3" name="Footer Placeholder 2">
            <a:extLst>
              <a:ext uri="{FF2B5EF4-FFF2-40B4-BE49-F238E27FC236}">
                <a16:creationId xmlns:a16="http://schemas.microsoft.com/office/drawing/2014/main" id="{DDE1E433-00B8-E85D-0C2E-411495858FDB}"/>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33A254C2-A750-B667-4014-E6351986E82E}"/>
              </a:ext>
            </a:extLst>
          </p:cNvPr>
          <p:cNvSpPr>
            <a:spLocks noGrp="1"/>
          </p:cNvSpPr>
          <p:nvPr>
            <p:ph type="sldNum" sz="quarter" idx="12"/>
          </p:nvPr>
        </p:nvSpPr>
        <p:spPr/>
        <p:txBody>
          <a:bodyPr/>
          <a:lstStyle/>
          <a:p>
            <a:fld id="{1AE971F0-0CD2-4C47-8087-EBCE9716EA84}" type="slidenum">
              <a:rPr lang="en-GB" smtClean="0"/>
              <a:pPr/>
              <a:t>26</a:t>
            </a:fld>
            <a:endParaRPr lang="en-GB"/>
          </a:p>
        </p:txBody>
      </p:sp>
      <p:sp>
        <p:nvSpPr>
          <p:cNvPr id="5" name="TextBox 4">
            <a:extLst>
              <a:ext uri="{FF2B5EF4-FFF2-40B4-BE49-F238E27FC236}">
                <a16:creationId xmlns:a16="http://schemas.microsoft.com/office/drawing/2014/main" id="{2F9461E1-76CC-7EAB-8EBE-4DFFB6BE2740}"/>
              </a:ext>
            </a:extLst>
          </p:cNvPr>
          <p:cNvSpPr txBox="1"/>
          <p:nvPr/>
        </p:nvSpPr>
        <p:spPr>
          <a:xfrm>
            <a:off x="647700" y="2459504"/>
            <a:ext cx="3390900" cy="1323439"/>
          </a:xfrm>
          <a:prstGeom prst="rect">
            <a:avLst/>
          </a:prstGeom>
          <a:noFill/>
        </p:spPr>
        <p:txBody>
          <a:bodyPr wrap="square" rtlCol="0">
            <a:spAutoFit/>
          </a:bodyPr>
          <a:lstStyle/>
          <a:p>
            <a:r>
              <a:rPr lang="en-GB" sz="4000" dirty="0">
                <a:solidFill>
                  <a:srgbClr val="FAFBFC"/>
                </a:solidFill>
              </a:rPr>
              <a:t>Getting Feedback</a:t>
            </a:r>
          </a:p>
        </p:txBody>
      </p:sp>
      <p:sp>
        <p:nvSpPr>
          <p:cNvPr id="6" name="Content Placeholder 2">
            <a:extLst>
              <a:ext uri="{FF2B5EF4-FFF2-40B4-BE49-F238E27FC236}">
                <a16:creationId xmlns:a16="http://schemas.microsoft.com/office/drawing/2014/main" id="{75A4A213-7459-EBBB-F794-F66830215204}"/>
              </a:ext>
            </a:extLst>
          </p:cNvPr>
          <p:cNvSpPr txBox="1">
            <a:spLocks/>
          </p:cNvSpPr>
          <p:nvPr/>
        </p:nvSpPr>
        <p:spPr>
          <a:xfrm>
            <a:off x="4038600" y="749300"/>
            <a:ext cx="7956550" cy="5359400"/>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Your supervisor will be provide high level feedback in January</a:t>
            </a:r>
          </a:p>
          <a:p>
            <a:endParaRPr lang="en-GB" dirty="0"/>
          </a:p>
          <a:p>
            <a:r>
              <a:rPr lang="en-GB" dirty="0"/>
              <a:t>Marks will not be released (not finalised)</a:t>
            </a:r>
          </a:p>
          <a:p>
            <a:endParaRPr lang="en-GB" dirty="0"/>
          </a:p>
          <a:p>
            <a:r>
              <a:rPr lang="en-GB" dirty="0"/>
              <a:t>Traffic light system to indicate progress</a:t>
            </a:r>
          </a:p>
          <a:p>
            <a:endParaRPr lang="en-GB" dirty="0"/>
          </a:p>
        </p:txBody>
      </p:sp>
    </p:spTree>
    <p:extLst>
      <p:ext uri="{BB962C8B-B14F-4D97-AF65-F5344CB8AC3E}">
        <p14:creationId xmlns:p14="http://schemas.microsoft.com/office/powerpoint/2010/main" val="1509760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031E6-D3D4-8760-22DD-9DFFD21AA554}"/>
              </a:ext>
            </a:extLst>
          </p:cNvPr>
          <p:cNvSpPr>
            <a:spLocks noGrp="1"/>
          </p:cNvSpPr>
          <p:nvPr>
            <p:ph type="title"/>
          </p:nvPr>
        </p:nvSpPr>
        <p:spPr/>
        <p:txBody>
          <a:bodyPr/>
          <a:lstStyle/>
          <a:p>
            <a:r>
              <a:rPr lang="en-GB" dirty="0"/>
              <a:t>Summary of lecture</a:t>
            </a:r>
            <a:endParaRPr lang="en-IE" dirty="0"/>
          </a:p>
        </p:txBody>
      </p:sp>
      <p:sp>
        <p:nvSpPr>
          <p:cNvPr id="3" name="Content Placeholder 2">
            <a:extLst>
              <a:ext uri="{FF2B5EF4-FFF2-40B4-BE49-F238E27FC236}">
                <a16:creationId xmlns:a16="http://schemas.microsoft.com/office/drawing/2014/main" id="{23BB88B1-B810-B684-1A87-FCD6D42BF19E}"/>
              </a:ext>
            </a:extLst>
          </p:cNvPr>
          <p:cNvSpPr>
            <a:spLocks noGrp="1"/>
          </p:cNvSpPr>
          <p:nvPr>
            <p:ph idx="1"/>
          </p:nvPr>
        </p:nvSpPr>
        <p:spPr/>
        <p:txBody>
          <a:bodyPr>
            <a:normAutofit/>
          </a:bodyPr>
          <a:lstStyle/>
          <a:p>
            <a:r>
              <a:rPr lang="en-IE" dirty="0"/>
              <a:t>Use your presentation to convince your examiners of the complexity, completeness, uniqueness and good planning of your project</a:t>
            </a:r>
          </a:p>
          <a:p>
            <a:r>
              <a:rPr lang="en-IE" dirty="0"/>
              <a:t>Keep your slides minimal</a:t>
            </a:r>
          </a:p>
          <a:p>
            <a:r>
              <a:rPr lang="en-IE" dirty="0"/>
              <a:t>Practice practice practice!</a:t>
            </a:r>
          </a:p>
          <a:p>
            <a:endParaRPr lang="en-IE" dirty="0"/>
          </a:p>
        </p:txBody>
      </p:sp>
      <p:sp>
        <p:nvSpPr>
          <p:cNvPr id="4" name="Slide Number Placeholder 3">
            <a:extLst>
              <a:ext uri="{FF2B5EF4-FFF2-40B4-BE49-F238E27FC236}">
                <a16:creationId xmlns:a16="http://schemas.microsoft.com/office/drawing/2014/main" id="{83792BA2-C1C1-3082-A2A6-9339FD5DD124}"/>
              </a:ext>
            </a:extLst>
          </p:cNvPr>
          <p:cNvSpPr>
            <a:spLocks noGrp="1"/>
          </p:cNvSpPr>
          <p:nvPr>
            <p:ph type="sldNum" sz="quarter" idx="12"/>
          </p:nvPr>
        </p:nvSpPr>
        <p:spPr/>
        <p:txBody>
          <a:bodyPr/>
          <a:lstStyle/>
          <a:p>
            <a:fld id="{1AE971F0-0CD2-4C47-8087-EBCE9716EA84}" type="slidenum">
              <a:rPr lang="en-GB" smtClean="0"/>
              <a:pPr/>
              <a:t>27</a:t>
            </a:fld>
            <a:endParaRPr lang="en-GB" dirty="0"/>
          </a:p>
        </p:txBody>
      </p:sp>
      <p:sp>
        <p:nvSpPr>
          <p:cNvPr id="5" name="Date Placeholder 4">
            <a:extLst>
              <a:ext uri="{FF2B5EF4-FFF2-40B4-BE49-F238E27FC236}">
                <a16:creationId xmlns:a16="http://schemas.microsoft.com/office/drawing/2014/main" id="{A4801CD6-1267-F1C9-6A40-92B376E63D78}"/>
              </a:ext>
            </a:extLst>
          </p:cNvPr>
          <p:cNvSpPr>
            <a:spLocks noGrp="1"/>
          </p:cNvSpPr>
          <p:nvPr>
            <p:ph type="dt" sz="half" idx="10"/>
          </p:nvPr>
        </p:nvSpPr>
        <p:spPr/>
        <p:txBody>
          <a:bodyPr/>
          <a:lstStyle/>
          <a:p>
            <a:fld id="{7243583E-6E28-473F-973D-971CDDD65850}" type="datetime1">
              <a:rPr lang="en-GB" smtClean="0"/>
              <a:t>24/11/2025</a:t>
            </a:fld>
            <a:endParaRPr lang="en-GB" dirty="0"/>
          </a:p>
        </p:txBody>
      </p:sp>
      <p:sp>
        <p:nvSpPr>
          <p:cNvPr id="6" name="Footer Placeholder 5">
            <a:extLst>
              <a:ext uri="{FF2B5EF4-FFF2-40B4-BE49-F238E27FC236}">
                <a16:creationId xmlns:a16="http://schemas.microsoft.com/office/drawing/2014/main" id="{5C56675E-D456-AFAC-969F-E5745720F245}"/>
              </a:ext>
            </a:extLst>
          </p:cNvPr>
          <p:cNvSpPr>
            <a:spLocks noGrp="1"/>
          </p:cNvSpPr>
          <p:nvPr>
            <p:ph type="ftr" sz="quarter" idx="11"/>
          </p:nvPr>
        </p:nvSpPr>
        <p:spPr/>
        <p:txBody>
          <a:bodyPr/>
          <a:lstStyle/>
          <a:p>
            <a:endParaRPr lang="en-GB" dirty="0"/>
          </a:p>
        </p:txBody>
      </p:sp>
    </p:spTree>
    <p:extLst>
      <p:ext uri="{BB962C8B-B14F-4D97-AF65-F5344CB8AC3E}">
        <p14:creationId xmlns:p14="http://schemas.microsoft.com/office/powerpoint/2010/main" val="14007189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A9B7"/>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10E5C2-FC34-FA06-AAEC-03FD52FFB808}"/>
              </a:ext>
            </a:extLst>
          </p:cNvPr>
          <p:cNvSpPr>
            <a:spLocks noGrp="1"/>
          </p:cNvSpPr>
          <p:nvPr>
            <p:ph type="title" idx="4294967295"/>
          </p:nvPr>
        </p:nvSpPr>
        <p:spPr>
          <a:xfrm>
            <a:off x="8610600" y="6388100"/>
            <a:ext cx="2743200" cy="365125"/>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E971F0-0CD2-4C47-8087-EBCE9716EA84}" type="slidenum">
              <a:rPr kumimoji="0" lang="en-GB" sz="1600" b="1" i="0" u="none" strike="noStrike" kern="1200" cap="none" spc="0" normalizeH="0" baseline="0" noProof="0" smtClean="0">
                <a:ln>
                  <a:noFill/>
                </a:ln>
                <a:solidFill>
                  <a:schemeClr val="bg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600" b="1" i="0" u="none" strike="noStrike" kern="1200" cap="none" spc="0" normalizeH="0" baseline="0" noProof="0" dirty="0">
              <a:ln>
                <a:noFill/>
              </a:ln>
              <a:solidFill>
                <a:schemeClr val="bg1"/>
              </a:solidFill>
              <a:effectLst/>
              <a:uLnTx/>
              <a:uFillTx/>
              <a:latin typeface="+mn-lt"/>
              <a:ea typeface="+mn-ea"/>
              <a:cs typeface="+mn-cs"/>
            </a:endParaRPr>
          </a:p>
        </p:txBody>
      </p:sp>
      <p:sp>
        <p:nvSpPr>
          <p:cNvPr id="3" name="Date Placeholder 2">
            <a:extLst>
              <a:ext uri="{FF2B5EF4-FFF2-40B4-BE49-F238E27FC236}">
                <a16:creationId xmlns:a16="http://schemas.microsoft.com/office/drawing/2014/main" id="{5ECF4A85-9DF7-FAFB-3984-E31F3D597438}"/>
              </a:ext>
            </a:extLst>
          </p:cNvPr>
          <p:cNvSpPr>
            <a:spLocks noGrp="1"/>
          </p:cNvSpPr>
          <p:nvPr>
            <p:ph type="dt" sz="half" idx="10"/>
          </p:nvPr>
        </p:nvSpPr>
        <p:spPr/>
        <p:txBody>
          <a:bodyPr/>
          <a:lstStyle/>
          <a:p>
            <a:fld id="{C6C7FF48-8B3D-4E8B-8E31-6EA4FC6A5D26}" type="datetime1">
              <a:rPr lang="en-GB" smtClean="0"/>
              <a:t>24/11/2025</a:t>
            </a:fld>
            <a:endParaRPr lang="en-GB"/>
          </a:p>
        </p:txBody>
      </p:sp>
      <p:sp>
        <p:nvSpPr>
          <p:cNvPr id="4" name="Footer Placeholder 3">
            <a:extLst>
              <a:ext uri="{FF2B5EF4-FFF2-40B4-BE49-F238E27FC236}">
                <a16:creationId xmlns:a16="http://schemas.microsoft.com/office/drawing/2014/main" id="{C55E3064-15A2-ED2E-1031-380EBE8221B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39BC3D3-C691-D0C5-3771-1A0E1070614A}"/>
              </a:ext>
            </a:extLst>
          </p:cNvPr>
          <p:cNvSpPr>
            <a:spLocks noGrp="1"/>
          </p:cNvSpPr>
          <p:nvPr>
            <p:ph type="sldNum" sz="quarter" idx="12"/>
          </p:nvPr>
        </p:nvSpPr>
        <p:spPr/>
        <p:txBody>
          <a:bodyPr/>
          <a:lstStyle/>
          <a:p>
            <a:fld id="{1AE971F0-0CD2-4C47-8087-EBCE9716EA84}" type="slidenum">
              <a:rPr lang="en-GB" smtClean="0"/>
              <a:t>28</a:t>
            </a:fld>
            <a:endParaRPr lang="en-GB"/>
          </a:p>
        </p:txBody>
      </p:sp>
      <p:sp>
        <p:nvSpPr>
          <p:cNvPr id="6" name="TextBox 5">
            <a:extLst>
              <a:ext uri="{FF2B5EF4-FFF2-40B4-BE49-F238E27FC236}">
                <a16:creationId xmlns:a16="http://schemas.microsoft.com/office/drawing/2014/main" id="{D9AF844D-DE06-FB50-8E08-CB4C5E975D19}"/>
              </a:ext>
            </a:extLst>
          </p:cNvPr>
          <p:cNvSpPr txBox="1"/>
          <p:nvPr/>
        </p:nvSpPr>
        <p:spPr>
          <a:xfrm>
            <a:off x="410547" y="429209"/>
            <a:ext cx="11413153" cy="646331"/>
          </a:xfrm>
          <a:prstGeom prst="rect">
            <a:avLst/>
          </a:prstGeom>
          <a:noFill/>
        </p:spPr>
        <p:txBody>
          <a:bodyPr wrap="square" rtlCol="0">
            <a:spAutoFit/>
          </a:bodyPr>
          <a:lstStyle/>
          <a:p>
            <a:pPr algn="ctr"/>
            <a:r>
              <a:rPr lang="en-GB" sz="3600" dirty="0">
                <a:solidFill>
                  <a:schemeClr val="bg1"/>
                </a:solidFill>
              </a:rPr>
              <a:t>Questions?</a:t>
            </a:r>
          </a:p>
        </p:txBody>
      </p:sp>
      <p:sp>
        <p:nvSpPr>
          <p:cNvPr id="7" name="TextBox 6">
            <a:extLst>
              <a:ext uri="{FF2B5EF4-FFF2-40B4-BE49-F238E27FC236}">
                <a16:creationId xmlns:a16="http://schemas.microsoft.com/office/drawing/2014/main" id="{5986BFD4-50E0-A35A-5B07-4094DA4F2E28}"/>
              </a:ext>
            </a:extLst>
          </p:cNvPr>
          <p:cNvSpPr txBox="1"/>
          <p:nvPr/>
        </p:nvSpPr>
        <p:spPr>
          <a:xfrm>
            <a:off x="4351175" y="752374"/>
            <a:ext cx="3489649" cy="6247864"/>
          </a:xfrm>
          <a:prstGeom prst="rect">
            <a:avLst/>
          </a:prstGeom>
          <a:noFill/>
        </p:spPr>
        <p:txBody>
          <a:bodyPr wrap="square" rtlCol="0">
            <a:spAutoFit/>
          </a:bodyPr>
          <a:lstStyle/>
          <a:p>
            <a:r>
              <a:rPr lang="en-GB" sz="40000" dirty="0">
                <a:solidFill>
                  <a:schemeClr val="bg1"/>
                </a:solidFill>
              </a:rPr>
              <a:t>?</a:t>
            </a:r>
          </a:p>
        </p:txBody>
      </p:sp>
    </p:spTree>
    <p:extLst>
      <p:ext uri="{BB962C8B-B14F-4D97-AF65-F5344CB8AC3E}">
        <p14:creationId xmlns:p14="http://schemas.microsoft.com/office/powerpoint/2010/main" val="699510243"/>
      </p:ext>
    </p:extLst>
  </p:cSld>
  <p:clrMapOvr>
    <a:masterClrMapping/>
  </p:clrMapOvr>
</p:sld>
</file>

<file path=ppt/theme/theme1.xml><?xml version="1.0" encoding="utf-8"?>
<a:theme xmlns:a="http://schemas.openxmlformats.org/drawingml/2006/main" name="Office Theme">
  <a:themeElements>
    <a:clrScheme name="TU D SoC">
      <a:dk1>
        <a:sysClr val="windowText" lastClr="000000"/>
      </a:dk1>
      <a:lt1>
        <a:srgbClr val="FAFBFD"/>
      </a:lt1>
      <a:dk2>
        <a:srgbClr val="004C6C"/>
      </a:dk2>
      <a:lt2>
        <a:srgbClr val="FAFBFD"/>
      </a:lt2>
      <a:accent1>
        <a:srgbClr val="00A9B7"/>
      </a:accent1>
      <a:accent2>
        <a:srgbClr val="EB5793"/>
      </a:accent2>
      <a:accent3>
        <a:srgbClr val="B60057"/>
      </a:accent3>
      <a:accent4>
        <a:srgbClr val="CFC600"/>
      </a:accent4>
      <a:accent5>
        <a:srgbClr val="F49D6C"/>
      </a:accent5>
      <a:accent6>
        <a:srgbClr val="E94A41"/>
      </a:accent6>
      <a:hlink>
        <a:srgbClr val="6359A6"/>
      </a:hlink>
      <a:folHlink>
        <a:srgbClr val="837EBA"/>
      </a:folHlink>
    </a:clrScheme>
    <a:fontScheme name="Custom 3">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Template.potx" id="{19A76EF7-685B-4DD9-AEC2-DD2E690A5E16}" vid="{F9D02FCD-DE17-4A7B-9E71-714D7E1CC4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fe8872b-6cbd-4bc2-a1b1-93bd9d636a9c" xsi:nil="true"/>
    <lcf76f155ced4ddcb4097134ff3c332f xmlns="5fa573f1-0388-4933-b06f-1f1a0fb87c89">
      <Terms xmlns="http://schemas.microsoft.com/office/infopath/2007/PartnerControls"/>
    </lcf76f155ced4ddcb4097134ff3c332f>
    <SharedWithUsers xmlns="7fe8872b-6cbd-4bc2-a1b1-93bd9d636a9c">
      <UserInfo>
        <DisplayName>School of Computer Science-Staff-City Members</DisplayName>
        <AccountId>138</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0F374BB96A3DE46B150CC6A9F517AE9" ma:contentTypeVersion="17" ma:contentTypeDescription="Create a new document." ma:contentTypeScope="" ma:versionID="8e55672a6cd35329aa98f13185405290">
  <xsd:schema xmlns:xsd="http://www.w3.org/2001/XMLSchema" xmlns:xs="http://www.w3.org/2001/XMLSchema" xmlns:p="http://schemas.microsoft.com/office/2006/metadata/properties" xmlns:ns2="5fa573f1-0388-4933-b06f-1f1a0fb87c89" xmlns:ns3="7fe8872b-6cbd-4bc2-a1b1-93bd9d636a9c" targetNamespace="http://schemas.microsoft.com/office/2006/metadata/properties" ma:root="true" ma:fieldsID="cdd13ec41790b5451f326938c99a02fb" ns2:_="" ns3:_="">
    <xsd:import namespace="5fa573f1-0388-4933-b06f-1f1a0fb87c89"/>
    <xsd:import namespace="7fe8872b-6cbd-4bc2-a1b1-93bd9d636a9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Location" minOccurs="0"/>
                <xsd:element ref="ns2:MediaServiceOCR"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a573f1-0388-4933-b06f-1f1a0fb87c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b168bf0-f213-4887-af2e-cac682fa240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fe8872b-6cbd-4bc2-a1b1-93bd9d636a9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b5aa41c-e4fb-41a8-90d6-833c8917b781}" ma:internalName="TaxCatchAll" ma:showField="CatchAllData" ma:web="7fe8872b-6cbd-4bc2-a1b1-93bd9d636a9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0FDB3D-FF19-4870-A552-A7FC0B3873D1}">
  <ds:schemaRefs>
    <ds:schemaRef ds:uri="5fa573f1-0388-4933-b06f-1f1a0fb87c89"/>
    <ds:schemaRef ds:uri="http://schemas.microsoft.com/office/2006/documentManagement/types"/>
    <ds:schemaRef ds:uri="7fe8872b-6cbd-4bc2-a1b1-93bd9d636a9c"/>
    <ds:schemaRef ds:uri="http://purl.org/dc/dcmitype/"/>
    <ds:schemaRef ds:uri="http://purl.org/dc/elements/1.1/"/>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C449FA09-DE72-446A-A968-6E0DC55DDB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a573f1-0388-4933-b06f-1f1a0fb87c89"/>
    <ds:schemaRef ds:uri="7fe8872b-6cbd-4bc2-a1b1-93bd9d636a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0260636-9BC8-41CD-BA34-5B1D5FA4CFB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3180</TotalTime>
  <Words>1035</Words>
  <Application>Microsoft Office PowerPoint</Application>
  <PresentationFormat>Widescreen</PresentationFormat>
  <Paragraphs>234</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Helvetica</vt:lpstr>
      <vt:lpstr>Open sans</vt:lpstr>
      <vt:lpstr>Office Theme</vt:lpstr>
      <vt:lpstr>FYP: Interim Demo and Presentation</vt:lpstr>
      <vt:lpstr>Lesson Outline</vt:lpstr>
      <vt:lpstr>Submission Dates</vt:lpstr>
      <vt:lpstr>Late Penalties</vt:lpstr>
      <vt:lpstr>Feedback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of lecture</vt:lpstr>
      <vt:lpstr>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FYP: Academic Writing</dc:title>
  <dc:creator>Jack O Neill</dc:creator>
  <cp:lastModifiedBy>Ciaran</cp:lastModifiedBy>
  <cp:revision>18</cp:revision>
  <dcterms:created xsi:type="dcterms:W3CDTF">2023-10-09T10:01:40Z</dcterms:created>
  <dcterms:modified xsi:type="dcterms:W3CDTF">2025-11-24T11:47:44Z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0x01010060F374BB96A3DE46B150CC6A9F517AE9</vt:lpwstr>
  </property>
  <property fmtid="{D5CDD505-2E9C-101B-9397-08002B2CF9AE}" pid="3" name="MediaServiceImageTags">
    <vt:lpwstr/>
  </property>
</Properties>
</file>